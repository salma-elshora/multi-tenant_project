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d261c45-2e4f-6053-4b7b-7a703a813d39}">
          <p14:sldIdLst>
            <p14:sldId id="256"/>
          </p14:sldIdLst>
        </p14:section>
        <p14:section name="Project Idea" id="{e93efa99-8899-15cf-b143-903864e78724}">
          <p14:sldIdLst>
            <p14:sldId id="257"/>
            <p14:sldId id="258"/>
            <p14:sldId id="259"/>
          </p14:sldIdLst>
        </p14:section>
        <p14:section name="Structure and Models" id="{93dd5ade-4278-9d6e-e1ff-9f98c11a5322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Logic and Code" id="{f6a7a29c-9926-78b4-528c-c3abf0e5f3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Interface and Summary" id="{9a6e4ea2-fd39-8c49-8295-fa58c4ce11b4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82880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423160"/>
            <a:ext cx="67665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66344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Student Grades 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Student Grades 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chemeClr val="accent1"/>
                </a:solidFill>
              </a:rPr>
              <a:t>C# CONSOLE PROJECT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24231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Student Grades System</a:t>
            </a:r>
            <a:endParaRPr lang="en-US" sz="6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6634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</a:rPr>
              <a:t>A C# console application for managing students, subjects and academic results</a:t>
            </a:r>
            <a:endParaRPr lang="en-US" sz="2400" dirty="0"/>
          </a:p>
        </p:txBody>
      </p:sp>
      <p:sp>
        <p:nvSpPr>
          <p:cNvPr id="5" name="Decor ring"/>
          <p:cNvSpPr/>
          <p:nvPr/>
        </p:nvSpPr>
        <p:spPr>
          <a:xfrm>
            <a:off x="7498080" y="1097280"/>
            <a:ext cx="4480560" cy="448056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6" name="Hero circle"/>
          <p:cNvSpPr/>
          <p:nvPr/>
        </p:nvSpPr>
        <p:spPr>
          <a:xfrm>
            <a:off x="7909560" y="1508760"/>
            <a:ext cx="3657600" cy="3657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Hero icon" descr="Graduation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3774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Agenda</a:t>
            </a:r>
            <a:endParaRPr lang="en-US" sz="3800" dirty="0"/>
          </a:p>
        </p:txBody>
      </p:sp>
      <p:sp>
        <p:nvSpPr>
          <p:cNvPr id="4" name="Agenda card 01"/>
          <p:cNvSpPr/>
          <p:nvPr/>
        </p:nvSpPr>
        <p:spPr>
          <a:xfrm>
            <a:off x="548640" y="1645920"/>
            <a:ext cx="5410048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genda number 01"/>
          <p:cNvSpPr txBox="1"/>
          <p:nvPr/>
        </p:nvSpPr>
        <p:spPr>
          <a:xfrm>
            <a:off x="8686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Agenda heading 01"/>
          <p:cNvSpPr txBox="1"/>
          <p:nvPr/>
        </p:nvSpPr>
        <p:spPr>
          <a:xfrm>
            <a:off x="868680" y="25603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Project Idea</a:t>
            </a:r>
            <a:endParaRPr lang="en-US" sz="2800" dirty="0"/>
          </a:p>
        </p:txBody>
      </p:sp>
      <p:sp>
        <p:nvSpPr>
          <p:cNvPr id="7" name="Agenda text 01"/>
          <p:cNvSpPr txBox="1"/>
          <p:nvPr/>
        </p:nvSpPr>
        <p:spPr>
          <a:xfrm>
            <a:off x="868680" y="30175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Problem, solution and main features</a:t>
            </a:r>
            <a:endParaRPr lang="en-US" sz="2000" dirty="0"/>
          </a:p>
        </p:txBody>
      </p:sp>
      <p:sp>
        <p:nvSpPr>
          <p:cNvPr id="8" name="Agenda card 02"/>
          <p:cNvSpPr/>
          <p:nvPr/>
        </p:nvSpPr>
        <p:spPr>
          <a:xfrm>
            <a:off x="6233008" y="1645920"/>
            <a:ext cx="5410048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Agenda number 02"/>
          <p:cNvSpPr txBox="1"/>
          <p:nvPr/>
        </p:nvSpPr>
        <p:spPr>
          <a:xfrm>
            <a:off x="6553048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Agenda heading 02"/>
          <p:cNvSpPr txBox="1"/>
          <p:nvPr/>
        </p:nvSpPr>
        <p:spPr>
          <a:xfrm>
            <a:off x="6553048" y="25603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Structure and Models</a:t>
            </a:r>
            <a:endParaRPr lang="en-US" sz="2800" dirty="0"/>
          </a:p>
        </p:txBody>
      </p:sp>
      <p:sp>
        <p:nvSpPr>
          <p:cNvPr id="11" name="Agenda text 02"/>
          <p:cNvSpPr txBox="1"/>
          <p:nvPr/>
        </p:nvSpPr>
        <p:spPr>
          <a:xfrm>
            <a:off x="6553048" y="30175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Folders, enums and data classes</a:t>
            </a:r>
            <a:endParaRPr lang="en-US" sz="2000" dirty="0"/>
          </a:p>
        </p:txBody>
      </p:sp>
      <p:sp>
        <p:nvSpPr>
          <p:cNvPr id="12" name="Agenda card 03"/>
          <p:cNvSpPr/>
          <p:nvPr/>
        </p:nvSpPr>
        <p:spPr>
          <a:xfrm>
            <a:off x="548640" y="4069080"/>
            <a:ext cx="5410048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Agenda number 03"/>
          <p:cNvSpPr txBox="1"/>
          <p:nvPr/>
        </p:nvSpPr>
        <p:spPr>
          <a:xfrm>
            <a:off x="86868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Agenda heading 03"/>
          <p:cNvSpPr txBox="1"/>
          <p:nvPr/>
        </p:nvSpPr>
        <p:spPr>
          <a:xfrm>
            <a:off x="868680" y="49834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Logic and Code</a:t>
            </a:r>
            <a:endParaRPr lang="en-US" sz="2800" dirty="0"/>
          </a:p>
        </p:txBody>
      </p:sp>
      <p:sp>
        <p:nvSpPr>
          <p:cNvPr id="15" name="Agenda text 03"/>
          <p:cNvSpPr txBox="1"/>
          <p:nvPr/>
        </p:nvSpPr>
        <p:spPr>
          <a:xfrm>
            <a:off x="868680" y="544068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Calculation, validation and management</a:t>
            </a:r>
            <a:endParaRPr lang="en-US" sz="2000" dirty="0"/>
          </a:p>
        </p:txBody>
      </p:sp>
      <p:sp>
        <p:nvSpPr>
          <p:cNvPr id="16" name="Agenda card 04"/>
          <p:cNvSpPr/>
          <p:nvPr/>
        </p:nvSpPr>
        <p:spPr>
          <a:xfrm>
            <a:off x="6233008" y="4069080"/>
            <a:ext cx="5410048" cy="2148840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Agenda number 04"/>
          <p:cNvSpPr txBox="1"/>
          <p:nvPr/>
        </p:nvSpPr>
        <p:spPr>
          <a:xfrm>
            <a:off x="6553048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Agenda heading 04"/>
          <p:cNvSpPr txBox="1"/>
          <p:nvPr/>
        </p:nvSpPr>
        <p:spPr>
          <a:xfrm>
            <a:off x="6553048" y="49834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Interface and Summary</a:t>
            </a:r>
            <a:endParaRPr lang="en-US" sz="2800" dirty="0"/>
          </a:p>
        </p:txBody>
      </p:sp>
      <p:sp>
        <p:nvSpPr>
          <p:cNvPr id="19" name="Agenda text 04"/>
          <p:cNvSpPr txBox="1"/>
          <p:nvPr/>
        </p:nvSpPr>
        <p:spPr>
          <a:xfrm>
            <a:off x="6553048" y="544068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Menu flow, concepts and future work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01 · PROJECT IDEA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Project Idea</a:t>
            </a:r>
            <a:endParaRPr lang="en-US" sz="3800" dirty="0"/>
          </a:p>
        </p:txBody>
      </p:sp>
      <p:sp>
        <p:nvSpPr>
          <p:cNvPr id="4" name="Intro text"/>
          <p:cNvSpPr txBox="1"/>
          <p:nvPr/>
        </p:nvSpPr>
        <p:spPr>
          <a:xfrm>
            <a:off x="548640" y="15544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Tracking grades by hand is slow and error-prone. This system stores student records, validates every input, and calculates percentages, letter grades and pass/fail results automatically.</a:t>
            </a:r>
            <a:endParaRPr lang="en-US" sz="2400" dirty="0"/>
          </a:p>
        </p:txBody>
      </p:sp>
      <p:sp>
        <p:nvSpPr>
          <p:cNvPr id="5" name="Problem card"/>
          <p:cNvSpPr/>
          <p:nvPr/>
        </p:nvSpPr>
        <p:spPr>
          <a:xfrm>
            <a:off x="548640" y="3017520"/>
            <a:ext cx="3545738" cy="315468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Problem circle"/>
          <p:cNvSpPr/>
          <p:nvPr/>
        </p:nvSpPr>
        <p:spPr>
          <a:xfrm>
            <a:off x="822960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roblem icon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74720"/>
            <a:ext cx="365760" cy="365760"/>
          </a:xfrm>
          <a:prstGeom prst="rect">
            <a:avLst/>
          </a:prstGeom>
        </p:spPr>
      </p:pic>
      <p:sp>
        <p:nvSpPr>
          <p:cNvPr id="8" name="Problem heading"/>
          <p:cNvSpPr txBox="1"/>
          <p:nvPr/>
        </p:nvSpPr>
        <p:spPr>
          <a:xfrm>
            <a:off x="822960" y="41605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Problem</a:t>
            </a:r>
            <a:endParaRPr lang="en-US" sz="2800" dirty="0"/>
          </a:p>
        </p:txBody>
      </p:sp>
      <p:sp>
        <p:nvSpPr>
          <p:cNvPr id="9" name="Problem text"/>
          <p:cNvSpPr txBox="1"/>
          <p:nvPr/>
        </p:nvSpPr>
        <p:spPr>
          <a:xfrm>
            <a:off x="822960" y="4709160"/>
            <a:ext cx="29970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Manual records, wrong totals, no consistent grading rule.</a:t>
            </a:r>
            <a:endParaRPr lang="en-US" sz="2000" dirty="0"/>
          </a:p>
        </p:txBody>
      </p:sp>
      <p:sp>
        <p:nvSpPr>
          <p:cNvPr id="10" name="Solution card"/>
          <p:cNvSpPr/>
          <p:nvPr/>
        </p:nvSpPr>
        <p:spPr>
          <a:xfrm>
            <a:off x="4322978" y="3017520"/>
            <a:ext cx="3545738" cy="315468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olution circle"/>
          <p:cNvSpPr/>
          <p:nvPr/>
        </p:nvSpPr>
        <p:spPr>
          <a:xfrm>
            <a:off x="4597298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Solution icon" descr="Sol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78" y="3474720"/>
            <a:ext cx="365760" cy="365760"/>
          </a:xfrm>
          <a:prstGeom prst="rect">
            <a:avLst/>
          </a:prstGeom>
        </p:spPr>
      </p:pic>
      <p:sp>
        <p:nvSpPr>
          <p:cNvPr id="13" name="Solution heading"/>
          <p:cNvSpPr txBox="1"/>
          <p:nvPr/>
        </p:nvSpPr>
        <p:spPr>
          <a:xfrm>
            <a:off x="4597298" y="41605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Solution</a:t>
            </a:r>
            <a:endParaRPr lang="en-US" sz="2800" dirty="0"/>
          </a:p>
        </p:txBody>
      </p:sp>
      <p:sp>
        <p:nvSpPr>
          <p:cNvPr id="14" name="Solution text"/>
          <p:cNvSpPr txBox="1"/>
          <p:nvPr/>
        </p:nvSpPr>
        <p:spPr>
          <a:xfrm>
            <a:off x="4597298" y="4709160"/>
            <a:ext cx="29970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One program that stores, validates and calculates everything.</a:t>
            </a:r>
            <a:endParaRPr lang="en-US" sz="2000" dirty="0"/>
          </a:p>
        </p:txBody>
      </p:sp>
      <p:sp>
        <p:nvSpPr>
          <p:cNvPr id="15" name="Result card"/>
          <p:cNvSpPr/>
          <p:nvPr/>
        </p:nvSpPr>
        <p:spPr>
          <a:xfrm>
            <a:off x="8097317" y="3017520"/>
            <a:ext cx="3545738" cy="315468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Result circle"/>
          <p:cNvSpPr/>
          <p:nvPr/>
        </p:nvSpPr>
        <p:spPr>
          <a:xfrm>
            <a:off x="8371637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Result icon" descr="Res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7" y="3474720"/>
            <a:ext cx="365760" cy="365760"/>
          </a:xfrm>
          <a:prstGeom prst="rect">
            <a:avLst/>
          </a:prstGeom>
        </p:spPr>
      </p:pic>
      <p:sp>
        <p:nvSpPr>
          <p:cNvPr id="18" name="Result heading"/>
          <p:cNvSpPr txBox="1"/>
          <p:nvPr/>
        </p:nvSpPr>
        <p:spPr>
          <a:xfrm>
            <a:off x="8371637" y="41605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Result</a:t>
            </a:r>
            <a:endParaRPr lang="en-US" sz="2800" dirty="0"/>
          </a:p>
        </p:txBody>
      </p:sp>
      <p:sp>
        <p:nvSpPr>
          <p:cNvPr id="19" name="Result text"/>
          <p:cNvSpPr txBox="1"/>
          <p:nvPr/>
        </p:nvSpPr>
        <p:spPr>
          <a:xfrm>
            <a:off x="8371637" y="4709160"/>
            <a:ext cx="29970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Fast, accurate and readable student reports.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01 · PROJECT IDEA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Main Features</a:t>
            </a:r>
            <a:endParaRPr lang="en-US" sz="38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64592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eature 1 circle"/>
          <p:cNvSpPr/>
          <p:nvPr/>
        </p:nvSpPr>
        <p:spPr>
          <a:xfrm>
            <a:off x="822960" y="18470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eature 1 icon" descr="Fea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07108"/>
            <a:ext cx="320040" cy="320040"/>
          </a:xfrm>
          <a:prstGeom prst="rect">
            <a:avLst/>
          </a:prstGeom>
        </p:spPr>
      </p:pic>
      <p:sp>
        <p:nvSpPr>
          <p:cNvPr id="7" name="Feature title 1"/>
          <p:cNvSpPr txBox="1"/>
          <p:nvPr/>
        </p:nvSpPr>
        <p:spPr>
          <a:xfrm>
            <a:off x="822960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 Add Student</a:t>
            </a:r>
            <a:endParaRPr lang="en-US" sz="2200" dirty="0"/>
          </a:p>
        </p:txBody>
      </p:sp>
      <p:sp>
        <p:nvSpPr>
          <p:cNvPr id="8" name="Feature text 1"/>
          <p:cNvSpPr txBox="1"/>
          <p:nvPr/>
        </p:nvSpPr>
        <p:spPr>
          <a:xfrm>
            <a:off x="822960" y="306324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ID, name, year and department.</a:t>
            </a:r>
            <a:endParaRPr lang="en-US" sz="2000" dirty="0"/>
          </a:p>
        </p:txBody>
      </p:sp>
      <p:sp>
        <p:nvSpPr>
          <p:cNvPr id="9" name="Feature card 2"/>
          <p:cNvSpPr/>
          <p:nvPr/>
        </p:nvSpPr>
        <p:spPr>
          <a:xfrm>
            <a:off x="4322978" y="164592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Feature 2 circle"/>
          <p:cNvSpPr/>
          <p:nvPr/>
        </p:nvSpPr>
        <p:spPr>
          <a:xfrm>
            <a:off x="4597298" y="18470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Feature 2 icon" descr="Fea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318" y="2007108"/>
            <a:ext cx="320040" cy="320040"/>
          </a:xfrm>
          <a:prstGeom prst="rect">
            <a:avLst/>
          </a:prstGeom>
        </p:spPr>
      </p:pic>
      <p:sp>
        <p:nvSpPr>
          <p:cNvPr id="12" name="Feature title 2"/>
          <p:cNvSpPr txBox="1"/>
          <p:nvPr/>
        </p:nvSpPr>
        <p:spPr>
          <a:xfrm>
            <a:off x="4597298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 Find Student</a:t>
            </a:r>
            <a:endParaRPr lang="en-US" sz="2200" dirty="0"/>
          </a:p>
        </p:txBody>
      </p:sp>
      <p:sp>
        <p:nvSpPr>
          <p:cNvPr id="13" name="Feature text 2"/>
          <p:cNvSpPr txBox="1"/>
          <p:nvPr/>
        </p:nvSpPr>
        <p:spPr>
          <a:xfrm>
            <a:off x="4597298" y="306324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Search a student by ID.</a:t>
            </a:r>
            <a:endParaRPr lang="en-US" sz="2000" dirty="0"/>
          </a:p>
        </p:txBody>
      </p:sp>
      <p:sp>
        <p:nvSpPr>
          <p:cNvPr id="14" name="Feature card 3"/>
          <p:cNvSpPr/>
          <p:nvPr/>
        </p:nvSpPr>
        <p:spPr>
          <a:xfrm>
            <a:off x="8097317" y="164592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eature 3 circle"/>
          <p:cNvSpPr/>
          <p:nvPr/>
        </p:nvSpPr>
        <p:spPr>
          <a:xfrm>
            <a:off x="8371637" y="18470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Feature 3 icon" descr="Fea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2007108"/>
            <a:ext cx="320040" cy="320040"/>
          </a:xfrm>
          <a:prstGeom prst="rect">
            <a:avLst/>
          </a:prstGeom>
        </p:spPr>
      </p:pic>
      <p:sp>
        <p:nvSpPr>
          <p:cNvPr id="17" name="Feature title 3"/>
          <p:cNvSpPr txBox="1"/>
          <p:nvPr/>
        </p:nvSpPr>
        <p:spPr>
          <a:xfrm>
            <a:off x="8371637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3. Display All</a:t>
            </a:r>
            <a:endParaRPr lang="en-US" sz="2200" dirty="0"/>
          </a:p>
        </p:txBody>
      </p:sp>
      <p:sp>
        <p:nvSpPr>
          <p:cNvPr id="18" name="Feature text 3"/>
          <p:cNvSpPr txBox="1"/>
          <p:nvPr/>
        </p:nvSpPr>
        <p:spPr>
          <a:xfrm>
            <a:off x="8371637" y="306324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List every registered student.</a:t>
            </a:r>
            <a:endParaRPr lang="en-US" sz="2000" dirty="0"/>
          </a:p>
        </p:txBody>
      </p:sp>
      <p:sp>
        <p:nvSpPr>
          <p:cNvPr id="19" name="Feature card 4"/>
          <p:cNvSpPr/>
          <p:nvPr/>
        </p:nvSpPr>
        <p:spPr>
          <a:xfrm>
            <a:off x="548640" y="411480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Feature 4 circle"/>
          <p:cNvSpPr/>
          <p:nvPr/>
        </p:nvSpPr>
        <p:spPr>
          <a:xfrm>
            <a:off x="822960" y="43159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Feature 4 icon" descr="Featu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75988"/>
            <a:ext cx="320040" cy="320040"/>
          </a:xfrm>
          <a:prstGeom prst="rect">
            <a:avLst/>
          </a:prstGeom>
        </p:spPr>
      </p:pic>
      <p:sp>
        <p:nvSpPr>
          <p:cNvPr id="22" name="Feature title 4"/>
          <p:cNvSpPr txBox="1"/>
          <p:nvPr/>
        </p:nvSpPr>
        <p:spPr>
          <a:xfrm>
            <a:off x="822960" y="5074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4. Add Subject Grade</a:t>
            </a:r>
            <a:endParaRPr lang="en-US" sz="2200" dirty="0"/>
          </a:p>
        </p:txBody>
      </p:sp>
      <p:sp>
        <p:nvSpPr>
          <p:cNvPr id="23" name="Feature text 4"/>
          <p:cNvSpPr txBox="1"/>
          <p:nvPr/>
        </p:nvSpPr>
        <p:spPr>
          <a:xfrm>
            <a:off x="822960" y="55321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Grade and maximum grade per subject.</a:t>
            </a:r>
            <a:endParaRPr lang="en-US" sz="2000" dirty="0"/>
          </a:p>
        </p:txBody>
      </p:sp>
      <p:sp>
        <p:nvSpPr>
          <p:cNvPr id="24" name="Feature card 5"/>
          <p:cNvSpPr/>
          <p:nvPr/>
        </p:nvSpPr>
        <p:spPr>
          <a:xfrm>
            <a:off x="4322978" y="411480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Feature 5 circle"/>
          <p:cNvSpPr/>
          <p:nvPr/>
        </p:nvSpPr>
        <p:spPr>
          <a:xfrm>
            <a:off x="4597298" y="43159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eature 5 icon" descr="Featur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318" y="4475988"/>
            <a:ext cx="320040" cy="320040"/>
          </a:xfrm>
          <a:prstGeom prst="rect">
            <a:avLst/>
          </a:prstGeom>
        </p:spPr>
      </p:pic>
      <p:sp>
        <p:nvSpPr>
          <p:cNvPr id="27" name="Feature title 5"/>
          <p:cNvSpPr txBox="1"/>
          <p:nvPr/>
        </p:nvSpPr>
        <p:spPr>
          <a:xfrm>
            <a:off x="4597298" y="5074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5. Student Report</a:t>
            </a:r>
            <a:endParaRPr lang="en-US" sz="2200" dirty="0"/>
          </a:p>
        </p:txBody>
      </p:sp>
      <p:sp>
        <p:nvSpPr>
          <p:cNvPr id="28" name="Feature text 5"/>
          <p:cNvSpPr txBox="1"/>
          <p:nvPr/>
        </p:nvSpPr>
        <p:spPr>
          <a:xfrm>
            <a:off x="4597298" y="55321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Percentages, letter grades, result.</a:t>
            </a:r>
            <a:endParaRPr lang="en-US" sz="2000" dirty="0"/>
          </a:p>
        </p:txBody>
      </p:sp>
      <p:sp>
        <p:nvSpPr>
          <p:cNvPr id="29" name="Feature card 6"/>
          <p:cNvSpPr/>
          <p:nvPr/>
        </p:nvSpPr>
        <p:spPr>
          <a:xfrm>
            <a:off x="8097317" y="4114800"/>
            <a:ext cx="354573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Feature 6 circle"/>
          <p:cNvSpPr/>
          <p:nvPr/>
        </p:nvSpPr>
        <p:spPr>
          <a:xfrm>
            <a:off x="8371637" y="43159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Feature 6 icon" descr="Featur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657" y="4475988"/>
            <a:ext cx="320040" cy="320040"/>
          </a:xfrm>
          <a:prstGeom prst="rect">
            <a:avLst/>
          </a:prstGeom>
        </p:spPr>
      </p:pic>
      <p:sp>
        <p:nvSpPr>
          <p:cNvPr id="32" name="Feature title 6"/>
          <p:cNvSpPr txBox="1"/>
          <p:nvPr/>
        </p:nvSpPr>
        <p:spPr>
          <a:xfrm>
            <a:off x="8371637" y="5074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6. Remove Student</a:t>
            </a:r>
            <a:endParaRPr lang="en-US" sz="2200" dirty="0"/>
          </a:p>
        </p:txBody>
      </p:sp>
      <p:sp>
        <p:nvSpPr>
          <p:cNvPr id="33" name="Feature text 6"/>
          <p:cNvSpPr txBox="1"/>
          <p:nvPr/>
        </p:nvSpPr>
        <p:spPr>
          <a:xfrm>
            <a:off x="8371637" y="55321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Delete a record by ID.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Project Structure</a:t>
            </a:r>
            <a:endParaRPr lang="en-US" sz="3800" dirty="0"/>
          </a:p>
        </p:txBody>
      </p:sp>
      <p:sp>
        <p:nvSpPr>
          <p:cNvPr id="4" name="Project Structure code editor"/>
          <p:cNvSpPr/>
          <p:nvPr/>
        </p:nvSpPr>
        <p:spPr>
          <a:xfrm>
            <a:off x="548640" y="1645920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Project Structure code tab bar"/>
          <p:cNvSpPr/>
          <p:nvPr/>
        </p:nvSpPr>
        <p:spPr>
          <a:xfrm>
            <a:off x="548640" y="1645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Project Structure code tab bar cover"/>
          <p:cNvSpPr/>
          <p:nvPr/>
        </p:nvSpPr>
        <p:spPr>
          <a:xfrm>
            <a:off x="566928" y="2029968"/>
            <a:ext cx="61813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Project Structure code active tab"/>
          <p:cNvSpPr/>
          <p:nvPr/>
        </p:nvSpPr>
        <p:spPr>
          <a:xfrm>
            <a:off x="731520" y="1719072"/>
            <a:ext cx="2414016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Project Structure code tab top"/>
          <p:cNvSpPr/>
          <p:nvPr/>
        </p:nvSpPr>
        <p:spPr>
          <a:xfrm>
            <a:off x="731520" y="1719072"/>
            <a:ext cx="2414016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Project Structure code file name"/>
          <p:cNvSpPr txBox="1"/>
          <p:nvPr/>
        </p:nvSpPr>
        <p:spPr>
          <a:xfrm>
            <a:off x="868680" y="17556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Explorer</a:t>
            </a:r>
            <a:endParaRPr lang="en-US" sz="1400" dirty="0"/>
          </a:p>
        </p:txBody>
      </p:sp>
      <p:sp>
        <p:nvSpPr>
          <p:cNvPr id="10" name="Project Structure code"/>
          <p:cNvSpPr txBox="1"/>
          <p:nvPr/>
        </p:nvSpPr>
        <p:spPr>
          <a:xfrm>
            <a:off x="731520" y="2121408"/>
            <a:ext cx="585216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Student_Grades_System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Enums, StudentInformation,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SubjectGrade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Services/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GradeCalculation,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StudentDataValidation,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StudentManagement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Reports/StudentGradeReport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Program.cs</a:t>
            </a:r>
            <a:endParaRPr lang="en-US" sz="2200" dirty="0"/>
          </a:p>
        </p:txBody>
      </p:sp>
      <p:sp>
        <p:nvSpPr>
          <p:cNvPr id="11" name="Project Structure card"/>
          <p:cNvSpPr/>
          <p:nvPr/>
        </p:nvSpPr>
        <p:spPr>
          <a:xfrm>
            <a:off x="6995160" y="1645920"/>
            <a:ext cx="464789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Project Structure heading"/>
          <p:cNvSpPr txBox="1"/>
          <p:nvPr/>
        </p:nvSpPr>
        <p:spPr>
          <a:xfrm>
            <a:off x="7315200" y="19202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Layered design</a:t>
            </a:r>
            <a:endParaRPr lang="en-US" sz="2600" dirty="0"/>
          </a:p>
        </p:txBody>
      </p:sp>
      <p:sp>
        <p:nvSpPr>
          <p:cNvPr id="13" name="Project Structure bullets"/>
          <p:cNvSpPr txBox="1"/>
          <p:nvPr/>
        </p:nvSpPr>
        <p:spPr>
          <a:xfrm>
            <a:off x="7315200" y="2651760"/>
            <a:ext cx="40078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Models: the data only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Services: logic and rules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Reports: printed output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Program: menu and input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Code: Enumerations</a:t>
            </a:r>
            <a:endParaRPr lang="en-US" sz="3800" dirty="0"/>
          </a:p>
        </p:txBody>
      </p:sp>
      <p:sp>
        <p:nvSpPr>
          <p:cNvPr id="4" name="AcademicYear editor"/>
          <p:cNvSpPr/>
          <p:nvPr/>
        </p:nvSpPr>
        <p:spPr>
          <a:xfrm>
            <a:off x="548640" y="2011680"/>
            <a:ext cx="3576218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AcademicYear tab bar"/>
          <p:cNvSpPr/>
          <p:nvPr/>
        </p:nvSpPr>
        <p:spPr>
          <a:xfrm>
            <a:off x="548640" y="2011680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AcademicYear tab bar cover"/>
          <p:cNvSpPr/>
          <p:nvPr/>
        </p:nvSpPr>
        <p:spPr>
          <a:xfrm>
            <a:off x="566928" y="2395728"/>
            <a:ext cx="3539642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AcademicYear active tab"/>
          <p:cNvSpPr/>
          <p:nvPr/>
        </p:nvSpPr>
        <p:spPr>
          <a:xfrm>
            <a:off x="731520" y="2084832"/>
            <a:ext cx="219456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AcademicYear tab top"/>
          <p:cNvSpPr/>
          <p:nvPr/>
        </p:nvSpPr>
        <p:spPr>
          <a:xfrm>
            <a:off x="731520" y="2084832"/>
            <a:ext cx="219456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AcademicYear file name"/>
          <p:cNvSpPr txBox="1"/>
          <p:nvPr/>
        </p:nvSpPr>
        <p:spPr>
          <a:xfrm>
            <a:off x="86868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AcademicYear.cs</a:t>
            </a:r>
            <a:endParaRPr lang="en-US" sz="1400" dirty="0"/>
          </a:p>
        </p:txBody>
      </p:sp>
      <p:sp>
        <p:nvSpPr>
          <p:cNvPr id="10" name="AcademicYear"/>
          <p:cNvSpPr txBox="1"/>
          <p:nvPr/>
        </p:nvSpPr>
        <p:spPr>
          <a:xfrm>
            <a:off x="731520" y="2487168"/>
            <a:ext cx="3210458" cy="281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= </a:t>
            </a:r>
            <a:pPr indent="0" marL="0">
              <a:buNone/>
            </a:pPr>
            <a:r>
              <a:rPr lang="en-US" sz="17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Second = </a:t>
            </a:r>
            <a:pPr indent="0" marL="0">
              <a:buNone/>
            </a:pPr>
            <a:r>
              <a:rPr lang="en-US" sz="17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Third = </a:t>
            </a:r>
            <a:pPr indent="0" marL="0">
              <a:buNone/>
            </a:pPr>
            <a:r>
              <a:rPr lang="en-US" sz="17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Fourth = </a:t>
            </a:r>
            <a:pPr indent="0" marL="0">
              <a:buNone/>
            </a:pPr>
            <a:r>
              <a:rPr lang="en-US" sz="17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Department editor"/>
          <p:cNvSpPr/>
          <p:nvPr/>
        </p:nvSpPr>
        <p:spPr>
          <a:xfrm>
            <a:off x="4307738" y="2011680"/>
            <a:ext cx="3576218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12" name="Department tab bar"/>
          <p:cNvSpPr/>
          <p:nvPr/>
        </p:nvSpPr>
        <p:spPr>
          <a:xfrm>
            <a:off x="4307738" y="2011680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13" name="Department tab bar cover"/>
          <p:cNvSpPr/>
          <p:nvPr/>
        </p:nvSpPr>
        <p:spPr>
          <a:xfrm>
            <a:off x="4326026" y="2395728"/>
            <a:ext cx="3539642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Department active tab"/>
          <p:cNvSpPr/>
          <p:nvPr/>
        </p:nvSpPr>
        <p:spPr>
          <a:xfrm>
            <a:off x="4490618" y="2084832"/>
            <a:ext cx="1975104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Department tab top"/>
          <p:cNvSpPr/>
          <p:nvPr/>
        </p:nvSpPr>
        <p:spPr>
          <a:xfrm>
            <a:off x="4490618" y="2084832"/>
            <a:ext cx="1975104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6" name="Department file name"/>
          <p:cNvSpPr txBox="1"/>
          <p:nvPr/>
        </p:nvSpPr>
        <p:spPr>
          <a:xfrm>
            <a:off x="4627778" y="21214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Department.cs</a:t>
            </a:r>
            <a:endParaRPr lang="en-US" sz="1400" dirty="0"/>
          </a:p>
        </p:txBody>
      </p:sp>
      <p:sp>
        <p:nvSpPr>
          <p:cNvPr id="17" name="Department"/>
          <p:cNvSpPr txBox="1"/>
          <p:nvPr/>
        </p:nvSpPr>
        <p:spPr>
          <a:xfrm>
            <a:off x="4490618" y="2487168"/>
            <a:ext cx="3210458" cy="281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General,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ComputerScience,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InformationSystems,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InformationTechnology,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ArtificialIntelligence,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CyberSecurity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8" name="LetterGrade editor"/>
          <p:cNvSpPr/>
          <p:nvPr/>
        </p:nvSpPr>
        <p:spPr>
          <a:xfrm>
            <a:off x="8066837" y="2011680"/>
            <a:ext cx="3576218" cy="3383280"/>
          </a:xfrm>
          <a:prstGeom prst="roundRect">
            <a:avLst>
              <a:gd name="adj" fmla="val 2162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19" name="LetterGrade tab bar"/>
          <p:cNvSpPr/>
          <p:nvPr/>
        </p:nvSpPr>
        <p:spPr>
          <a:xfrm>
            <a:off x="8066837" y="2011680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20" name="LetterGrade tab bar cover"/>
          <p:cNvSpPr/>
          <p:nvPr/>
        </p:nvSpPr>
        <p:spPr>
          <a:xfrm>
            <a:off x="8085125" y="2395728"/>
            <a:ext cx="3539642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LetterGrade active tab"/>
          <p:cNvSpPr/>
          <p:nvPr/>
        </p:nvSpPr>
        <p:spPr>
          <a:xfrm>
            <a:off x="8249717" y="2084832"/>
            <a:ext cx="208483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LetterGrade tab top"/>
          <p:cNvSpPr/>
          <p:nvPr/>
        </p:nvSpPr>
        <p:spPr>
          <a:xfrm>
            <a:off x="8249717" y="2084832"/>
            <a:ext cx="208483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23" name="LetterGrade file name"/>
          <p:cNvSpPr txBox="1"/>
          <p:nvPr/>
        </p:nvSpPr>
        <p:spPr>
          <a:xfrm>
            <a:off x="8386877" y="21214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LetterGrade.cs</a:t>
            </a:r>
            <a:endParaRPr lang="en-US" sz="1400" dirty="0"/>
          </a:p>
        </p:txBody>
      </p:sp>
      <p:sp>
        <p:nvSpPr>
          <p:cNvPr id="24" name="LetterGrade"/>
          <p:cNvSpPr txBox="1"/>
          <p:nvPr/>
        </p:nvSpPr>
        <p:spPr>
          <a:xfrm>
            <a:off x="8249717" y="2487168"/>
            <a:ext cx="3210458" cy="281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Models: Enumerations</a:t>
            </a:r>
            <a:endParaRPr lang="en-US" sz="3800" dirty="0"/>
          </a:p>
        </p:txBody>
      </p:sp>
      <p:sp>
        <p:nvSpPr>
          <p:cNvPr id="4" name="Models: Enumerations code editor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Models: Enumerations code tab bar"/>
          <p:cNvSpPr/>
          <p:nvPr/>
        </p:nvSpPr>
        <p:spPr>
          <a:xfrm>
            <a:off x="548640" y="164592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Models: Enumerations code tab bar cover"/>
          <p:cNvSpPr/>
          <p:nvPr/>
        </p:nvSpPr>
        <p:spPr>
          <a:xfrm>
            <a:off x="566928" y="2029968"/>
            <a:ext cx="636422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Models: Enumerations code active tab"/>
          <p:cNvSpPr/>
          <p:nvPr/>
        </p:nvSpPr>
        <p:spPr>
          <a:xfrm>
            <a:off x="731520" y="1719072"/>
            <a:ext cx="1426464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Models: Enumerations code tab top"/>
          <p:cNvSpPr/>
          <p:nvPr/>
        </p:nvSpPr>
        <p:spPr>
          <a:xfrm>
            <a:off x="731520" y="1719072"/>
            <a:ext cx="1426464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Models: Enumerations code file name"/>
          <p:cNvSpPr txBox="1"/>
          <p:nvPr/>
        </p:nvSpPr>
        <p:spPr>
          <a:xfrm>
            <a:off x="868680" y="175564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Enums.cs</a:t>
            </a:r>
            <a:endParaRPr lang="en-US" sz="1400" dirty="0"/>
          </a:p>
        </p:txBody>
      </p:sp>
      <p:sp>
        <p:nvSpPr>
          <p:cNvPr id="10" name="Models: Enumerations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Models: Enumerations code"/>
          <p:cNvSpPr txBox="1"/>
          <p:nvPr/>
        </p:nvSpPr>
        <p:spPr>
          <a:xfrm>
            <a:off x="1280160" y="2121408"/>
            <a:ext cx="548640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= </a:t>
            </a:r>
            <a:pPr indent="0" marL="0">
              <a:buNone/>
            </a:pPr>
            <a:r>
              <a:rPr lang="en-US" sz="1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Second = </a:t>
            </a:r>
            <a:pPr indent="0" marL="0">
              <a:buNone/>
            </a:pPr>
            <a:r>
              <a:rPr lang="en-US" sz="1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Third = </a:t>
            </a:r>
            <a:pPr indent="0" marL="0">
              <a:buNone/>
            </a:pPr>
            <a:r>
              <a:rPr lang="en-US" sz="1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Fourth = </a:t>
            </a:r>
            <a:pPr indent="0" marL="0">
              <a:buNone/>
            </a:pPr>
            <a:r>
              <a:rPr lang="en-US" sz="18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General,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ComputerScience, InformationSystems,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InformationTechnology,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ArtificialIntelligence, CyberSecurity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A, B, C, D, F }</a:t>
            </a:r>
            <a:endParaRPr lang="en-US" sz="1800" dirty="0"/>
          </a:p>
        </p:txBody>
      </p:sp>
      <p:sp>
        <p:nvSpPr>
          <p:cNvPr id="12" name="Models: Enumerations card"/>
          <p:cNvSpPr/>
          <p:nvPr/>
        </p:nvSpPr>
        <p:spPr>
          <a:xfrm>
            <a:off x="7178040" y="1645920"/>
            <a:ext cx="4465015" cy="4526280"/>
          </a:xfrm>
          <a:prstGeom prst="roundRect">
            <a:avLst>
              <a:gd name="adj" fmla="val 307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Models: Enumerations heading"/>
          <p:cNvSpPr txBox="1"/>
          <p:nvPr/>
        </p:nvSpPr>
        <p:spPr>
          <a:xfrm>
            <a:off x="7498080" y="1920240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Why enums</a:t>
            </a:r>
            <a:endParaRPr lang="en-US" sz="2600" dirty="0"/>
          </a:p>
        </p:txBody>
      </p:sp>
      <p:sp>
        <p:nvSpPr>
          <p:cNvPr id="14" name="Models: Enumerations bullets"/>
          <p:cNvSpPr txBox="1"/>
          <p:nvPr/>
        </p:nvSpPr>
        <p:spPr>
          <a:xfrm>
            <a:off x="7498080" y="2651760"/>
            <a:ext cx="38249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AcademicYear, Department, and LetterGrade define the valid choices used by the system.</a:t>
            </a:r>
            <a:endParaRPr lang="en-US" sz="2200" dirty="0"/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Enums make the code easier to read than unexplained numbers or text values.</a:t>
            </a:r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AcademicYear uses values 1–4 so it matches the year selected from the menu.</a:t>
            </a:r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Using these named options keeps student records and reports consistent.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StudentInformation Class</a:t>
            </a:r>
            <a:endParaRPr lang="en-US" sz="3000" dirty="0"/>
          </a:p>
        </p:txBody>
      </p:sp>
      <p:sp>
        <p:nvSpPr>
          <p:cNvPr id="4" name="Code: StudentInformation Class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StudentInformation Class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StudentInformation Class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StudentInformation Class active tab"/>
          <p:cNvSpPr/>
          <p:nvPr/>
        </p:nvSpPr>
        <p:spPr>
          <a:xfrm>
            <a:off x="731520" y="1307592"/>
            <a:ext cx="2852928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StudentInformation Class tab top"/>
          <p:cNvSpPr/>
          <p:nvPr/>
        </p:nvSpPr>
        <p:spPr>
          <a:xfrm>
            <a:off x="731520" y="1307592"/>
            <a:ext cx="2852928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StudentInformation Class file name"/>
          <p:cNvSpPr txBox="1"/>
          <p:nvPr/>
        </p:nvSpPr>
        <p:spPr>
          <a:xfrm>
            <a:off x="868680" y="13441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StudentInformation.cs</a:t>
            </a:r>
            <a:endParaRPr lang="en-US" sz="1400" dirty="0"/>
          </a:p>
        </p:txBody>
      </p:sp>
      <p:sp>
        <p:nvSpPr>
          <p:cNvPr id="10" name="Code: StudentInformation Class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800" dirty="0"/>
          </a:p>
        </p:txBody>
      </p:sp>
      <p:sp>
        <p:nvSpPr>
          <p:cNvPr id="11" name="Code: StudentInformation Class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StudentID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StudentName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StudentID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StudentName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Models: Data Classes</a:t>
            </a:r>
            <a:endParaRPr lang="en-US" sz="3800" dirty="0"/>
          </a:p>
        </p:txBody>
      </p:sp>
      <p:sp>
        <p:nvSpPr>
          <p:cNvPr id="4" name="Models: Data Classes code editor"/>
          <p:cNvSpPr/>
          <p:nvPr/>
        </p:nvSpPr>
        <p:spPr>
          <a:xfrm>
            <a:off x="548640" y="1645920"/>
            <a:ext cx="676656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Models: Data Classes code tab bar"/>
          <p:cNvSpPr/>
          <p:nvPr/>
        </p:nvSpPr>
        <p:spPr>
          <a:xfrm>
            <a:off x="548640" y="164592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Models: Data Classes code tab bar cover"/>
          <p:cNvSpPr/>
          <p:nvPr/>
        </p:nvSpPr>
        <p:spPr>
          <a:xfrm>
            <a:off x="566928" y="2029968"/>
            <a:ext cx="672998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Models: Data Classes code active tab"/>
          <p:cNvSpPr/>
          <p:nvPr/>
        </p:nvSpPr>
        <p:spPr>
          <a:xfrm>
            <a:off x="731520" y="1719072"/>
            <a:ext cx="2852928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Models: Data Classes code tab top"/>
          <p:cNvSpPr/>
          <p:nvPr/>
        </p:nvSpPr>
        <p:spPr>
          <a:xfrm>
            <a:off x="731520" y="1719072"/>
            <a:ext cx="2852928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Models: Data Classes code file name"/>
          <p:cNvSpPr txBox="1"/>
          <p:nvPr/>
        </p:nvSpPr>
        <p:spPr>
          <a:xfrm>
            <a:off x="868680" y="17556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StudentInformation.cs</a:t>
            </a:r>
            <a:endParaRPr lang="en-US" sz="1400" dirty="0"/>
          </a:p>
        </p:txBody>
      </p:sp>
      <p:sp>
        <p:nvSpPr>
          <p:cNvPr id="10" name="Models: Data Classes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Models: Data Classes code"/>
          <p:cNvSpPr txBox="1"/>
          <p:nvPr/>
        </p:nvSpPr>
        <p:spPr>
          <a:xfrm>
            <a:off x="1280160" y="2121408"/>
            <a:ext cx="585216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StudentID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StudentName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AcademicYear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{...}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2" name="Models: Data Classes card"/>
          <p:cNvSpPr/>
          <p:nvPr/>
        </p:nvSpPr>
        <p:spPr>
          <a:xfrm>
            <a:off x="7543800" y="1645920"/>
            <a:ext cx="4099255" cy="4526280"/>
          </a:xfrm>
          <a:prstGeom prst="roundRect">
            <a:avLst>
              <a:gd name="adj" fmla="val 3346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Models: Data Classes heading"/>
          <p:cNvSpPr txBox="1"/>
          <p:nvPr/>
        </p:nvSpPr>
        <p:spPr>
          <a:xfrm>
            <a:off x="7863840" y="19202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Why this design</a:t>
            </a:r>
            <a:endParaRPr lang="en-US" sz="2600" dirty="0"/>
          </a:p>
        </p:txBody>
      </p:sp>
      <p:sp>
        <p:nvSpPr>
          <p:cNvPr id="14" name="Models: Data Classes bullets"/>
          <p:cNvSpPr txBox="1"/>
          <p:nvPr/>
        </p:nvSpPr>
        <p:spPr>
          <a:xfrm>
            <a:off x="7863840" y="2651760"/>
            <a:ext cx="3459175" cy="3291840"/>
          </a:xfrm>
          <a:prstGeom prst="rect">
            <a:avLst/>
          </a:prstGeom>
          <a:noFill/>
          <a:ln/>
        </p:spPr>
        <p:txBody>
          <a:bodyPr wrap="square" lIns="27432" tIns="18288" rIns="73152" bIns="18288" rtlCol="0" anchor="t">
            <a:noAutofit/>
          </a:bodyPr>
          <a:lstStyle/>
          <a:p>
            <a:pPr marL="279400" indent="-279400" algn="l">
              <a:buNone/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  <a:buNone/>
            </a:pPr>
            <a:r>
              <a:rPr sz="1600">
                <a:solidFill>
                  <a:srgbClr val="CDD3DE"/>
                </a:solidFill>
              </a:rPr>
              <a:t>• StudentInformation represents one student and stores the ID, name, academic year, and department.</a:t>
            </a:r>
            <a:endParaRPr lang="en-US" sz="2200" dirty="0"/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The constructor sets these values when the object is created.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private set prevents direct changes from outside the class. This is encapsulation.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Enums keep year and department choices valid and readable.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SubjectGrade Class</a:t>
            </a:r>
            <a:endParaRPr lang="en-US" sz="3000" dirty="0"/>
          </a:p>
        </p:txBody>
      </p:sp>
      <p:sp>
        <p:nvSpPr>
          <p:cNvPr id="4" name="Code: SubjectGrade Class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SubjectGrade Class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SubjectGrade Class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SubjectGrade Class active tab"/>
          <p:cNvSpPr/>
          <p:nvPr/>
        </p:nvSpPr>
        <p:spPr>
          <a:xfrm>
            <a:off x="731520" y="1307592"/>
            <a:ext cx="219456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SubjectGrade Class tab top"/>
          <p:cNvSpPr/>
          <p:nvPr/>
        </p:nvSpPr>
        <p:spPr>
          <a:xfrm>
            <a:off x="731520" y="1307592"/>
            <a:ext cx="219456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SubjectGrade Class file name"/>
          <p:cNvSpPr txBox="1"/>
          <p:nvPr/>
        </p:nvSpPr>
        <p:spPr>
          <a:xfrm>
            <a:off x="868680" y="1344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SubjectGrade.cs</a:t>
            </a:r>
            <a:endParaRPr lang="en-US" sz="1400" dirty="0"/>
          </a:p>
        </p:txBody>
      </p:sp>
      <p:sp>
        <p:nvSpPr>
          <p:cNvPr id="10" name="Code: SubjectGrade Class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800" dirty="0"/>
          </a:p>
        </p:txBody>
      </p:sp>
      <p:sp>
        <p:nvSpPr>
          <p:cNvPr id="11" name="Code: SubjectGrade Class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SubjectID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SubjectName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MaxGrade {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subjectID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subjectName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SubjectID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subjectID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SubjectName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subjectName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MaxGrade = </a:t>
            </a:r>
            <a:pPr indent="0" marL="0">
              <a:buNone/>
            </a:pPr>
            <a:r>
              <a:rPr lang="en-US" sz="1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maxGrade</a:t>
            </a:r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02 · STRUCTURE AND MODELS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Models: SubjectGrade</a:t>
            </a:r>
            <a:endParaRPr lang="en-US" sz="3800" dirty="0"/>
          </a:p>
        </p:txBody>
      </p:sp>
      <p:sp>
        <p:nvSpPr>
          <p:cNvPr id="4" name="Models: SubjectGrade code editor"/>
          <p:cNvSpPr/>
          <p:nvPr/>
        </p:nvSpPr>
        <p:spPr>
          <a:xfrm>
            <a:off x="548640" y="164592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Models: SubjectGrade code tab bar"/>
          <p:cNvSpPr/>
          <p:nvPr/>
        </p:nvSpPr>
        <p:spPr>
          <a:xfrm>
            <a:off x="548640" y="1645920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Models: SubjectGrade code tab bar cover"/>
          <p:cNvSpPr/>
          <p:nvPr/>
        </p:nvSpPr>
        <p:spPr>
          <a:xfrm>
            <a:off x="566928" y="2029968"/>
            <a:ext cx="654710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Models: SubjectGrade code active tab"/>
          <p:cNvSpPr/>
          <p:nvPr/>
        </p:nvSpPr>
        <p:spPr>
          <a:xfrm>
            <a:off x="731520" y="1719072"/>
            <a:ext cx="219456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Models: SubjectGrade code tab top"/>
          <p:cNvSpPr/>
          <p:nvPr/>
        </p:nvSpPr>
        <p:spPr>
          <a:xfrm>
            <a:off x="731520" y="1719072"/>
            <a:ext cx="219456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Models: SubjectGrade code file name"/>
          <p:cNvSpPr txBox="1"/>
          <p:nvPr/>
        </p:nvSpPr>
        <p:spPr>
          <a:xfrm>
            <a:off x="86868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SubjectGrade.cs</a:t>
            </a:r>
            <a:endParaRPr lang="en-US" sz="1400" dirty="0"/>
          </a:p>
        </p:txBody>
      </p:sp>
      <p:sp>
        <p:nvSpPr>
          <p:cNvPr id="10" name="Models: SubjectGrade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11" name="Models: SubjectGrade code"/>
          <p:cNvSpPr txBox="1"/>
          <p:nvPr/>
        </p:nvSpPr>
        <p:spPr>
          <a:xfrm>
            <a:off x="1280160" y="2121408"/>
            <a:ext cx="56692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SubjectID {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SubjectName {...}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{...}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2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MaxGrade {...}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2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12" name="Models: SubjectGrade card"/>
          <p:cNvSpPr/>
          <p:nvPr/>
        </p:nvSpPr>
        <p:spPr>
          <a:xfrm>
            <a:off x="7360920" y="1645920"/>
            <a:ext cx="4282135" cy="4526280"/>
          </a:xfrm>
          <a:prstGeom prst="roundRect">
            <a:avLst>
              <a:gd name="adj" fmla="val 320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Models: SubjectGrade heading"/>
          <p:cNvSpPr txBox="1"/>
          <p:nvPr/>
        </p:nvSpPr>
        <p:spPr>
          <a:xfrm>
            <a:off x="7680960" y="1920240"/>
            <a:ext cx="3642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How it is used</a:t>
            </a:r>
            <a:endParaRPr lang="en-US" sz="2600" dirty="0"/>
          </a:p>
        </p:txBody>
      </p:sp>
      <p:sp>
        <p:nvSpPr>
          <p:cNvPr id="14" name="Models: SubjectGrade bullets"/>
          <p:cNvSpPr txBox="1"/>
          <p:nvPr/>
        </p:nvSpPr>
        <p:spPr>
          <a:xfrm>
            <a:off x="7680960" y="2651760"/>
            <a:ext cx="3642055" cy="3291840"/>
          </a:xfrm>
          <a:prstGeom prst="rect">
            <a:avLst/>
          </a:prstGeom>
          <a:noFill/>
          <a:ln/>
        </p:spPr>
        <p:txBody>
          <a:bodyPr wrap="square" lIns="27432" tIns="18288" rIns="73152" bIns="18288" rtlCol="0" anchor="t">
            <a:noAutofit/>
          </a:bodyPr>
          <a:lstStyle/>
          <a:p>
            <a:pPr marL="279400" indent="-279400" algn="l">
              <a:buNone/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  <a:buNone/>
            </a:pPr>
            <a:r>
              <a:rPr sz="1600">
                <a:solidFill>
                  <a:srgbClr val="CDD3DE"/>
                </a:solidFill>
              </a:rPr>
              <a:t>• SubjectGrade stores a subject’s ID, name, obtained grade, and maximum grade.</a:t>
            </a:r>
            <a:endParaRPr lang="en-US" sz="2200" dirty="0"/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double allows grades to include decimal values.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The maximum grade matters because subjects can have different totals.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Percentage = (Grade / MaxGrade) × 100. private set protects the stored values.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GradeCalculation (1) Constants and Percentage</a:t>
            </a:r>
            <a:endParaRPr lang="en-US" sz="3000" dirty="0"/>
          </a:p>
        </p:txBody>
      </p:sp>
      <p:sp>
        <p:nvSpPr>
          <p:cNvPr id="4" name="Code: GradeCalculation (1) Constants and Percentage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GradeCalculation (1) Constants and Percentage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GradeCalculation (1) Constants and Percentage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GradeCalculation (1) Constants and Percentage active tab"/>
          <p:cNvSpPr/>
          <p:nvPr/>
        </p:nvSpPr>
        <p:spPr>
          <a:xfrm>
            <a:off x="731520" y="130759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GradeCalculation (1) Constants and Percentage tab top"/>
          <p:cNvSpPr/>
          <p:nvPr/>
        </p:nvSpPr>
        <p:spPr>
          <a:xfrm>
            <a:off x="731520" y="130759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GradeCalculation (1) Constants and Percentage file name"/>
          <p:cNvSpPr txBox="1"/>
          <p:nvPr/>
        </p:nvSpPr>
        <p:spPr>
          <a:xfrm>
            <a:off x="868680" y="13441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Code: GradeCalculation (1) Constants and Percentage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</p:txBody>
      </p:sp>
      <p:sp>
        <p:nvSpPr>
          <p:cNvPr id="11" name="Code: GradeCalculation (1) Constants and Percentage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A_Minimum 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B_Minimum 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C_Minimum 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PassingPercentage 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Calculating the Percentage of A Subject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CalculatePercentage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 ==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Subject.MaxGrade&lt;=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(Subject.Grade &lt;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Subject.Grade &gt; Subject.MaxGrade)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(Subject.Grade / Subject.MaxGrade) *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Grade Calculation</a:t>
            </a:r>
            <a:endParaRPr lang="en-US" sz="3800" dirty="0"/>
          </a:p>
        </p:txBody>
      </p:sp>
      <p:sp>
        <p:nvSpPr>
          <p:cNvPr id="4" name="Grade Calculation code editor"/>
          <p:cNvSpPr/>
          <p:nvPr/>
        </p:nvSpPr>
        <p:spPr>
          <a:xfrm>
            <a:off x="548640" y="1645920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Grade Calculation code tab bar"/>
          <p:cNvSpPr/>
          <p:nvPr/>
        </p:nvSpPr>
        <p:spPr>
          <a:xfrm>
            <a:off x="548640" y="1645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Grade Calculation code tab bar cover"/>
          <p:cNvSpPr/>
          <p:nvPr/>
        </p:nvSpPr>
        <p:spPr>
          <a:xfrm>
            <a:off x="566928" y="2029968"/>
            <a:ext cx="61813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Grade Calculation code active tab"/>
          <p:cNvSpPr/>
          <p:nvPr/>
        </p:nvSpPr>
        <p:spPr>
          <a:xfrm>
            <a:off x="731520" y="171907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Grade Calculation code tab top"/>
          <p:cNvSpPr/>
          <p:nvPr/>
        </p:nvSpPr>
        <p:spPr>
          <a:xfrm>
            <a:off x="731520" y="171907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Grade Calculation code file name"/>
          <p:cNvSpPr txBox="1"/>
          <p:nvPr/>
        </p:nvSpPr>
        <p:spPr>
          <a:xfrm>
            <a:off x="868680" y="17556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Grade Calculation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</p:txBody>
      </p:sp>
      <p:sp>
        <p:nvSpPr>
          <p:cNvPr id="11" name="Grade Calculation code"/>
          <p:cNvSpPr txBox="1"/>
          <p:nvPr/>
        </p:nvSpPr>
        <p:spPr>
          <a:xfrm>
            <a:off x="1280160" y="2121408"/>
            <a:ext cx="530352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A_Minimum 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B_Minimum 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C_Minimum 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PassingPercentage 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(Grade / MaxGrade) *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</p:txBody>
      </p:sp>
      <p:sp>
        <p:nvSpPr>
          <p:cNvPr id="12" name="Grade Calculation card"/>
          <p:cNvSpPr/>
          <p:nvPr/>
        </p:nvSpPr>
        <p:spPr>
          <a:xfrm>
            <a:off x="6995160" y="1645920"/>
            <a:ext cx="464789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Grade Calculation heading"/>
          <p:cNvSpPr txBox="1"/>
          <p:nvPr/>
        </p:nvSpPr>
        <p:spPr>
          <a:xfrm>
            <a:off x="7315200" y="19202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14" name="Grade Calculation bullets"/>
          <p:cNvSpPr txBox="1"/>
          <p:nvPr/>
        </p:nvSpPr>
        <p:spPr>
          <a:xfrm>
            <a:off x="7315200" y="2651760"/>
            <a:ext cx="40078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The const values define the grading thresholds once: A = 85%, B = 75%, C = 65%, and pass = 50%.</a:t>
            </a:r>
            <a:endParaRPr lang="en-US" sz="2200" dirty="0"/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CalculatePercentage uses (Grade / MaxGrade) × 100 to convert a mark into a percentage.</a:t>
            </a:r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Before calculating, it rejects a missing subject, a non-positive maximum, or a grade outside the valid range.</a:t>
            </a:r>
          </a:p>
          <a:p>
            <a:pPr marL="279400" indent="-279400" algn="l">
              <a:spcBef>
                <a:spcPts val="0"/>
              </a:spcBef>
              <a:spcAft>
                <a:spcPts val="1100"/>
              </a:spcAft>
              <a:buSzPct val="100000"/>
              <a:buChar char="•"/>
            </a:pPr>
            <a:r>
              <a:rPr sz="1600" b="1">
                <a:solidFill>
                  <a:srgbClr val="F2F2F2"/>
                </a:solidFill>
                <a:latin typeface="Aptos"/>
              </a:rPr>
              <a:t>The return type double? can return null when the data is invalid, instead of presenting a misleading percentage.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GradeCalculation (2) Letter Grade</a:t>
            </a:r>
            <a:endParaRPr lang="en-US" sz="3000" dirty="0"/>
          </a:p>
        </p:txBody>
      </p:sp>
      <p:sp>
        <p:nvSpPr>
          <p:cNvPr id="4" name="Code: GradeCalculation (2) Letter Grade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GradeCalculation (2) Letter Grade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GradeCalculation (2) Letter Grade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GradeCalculation (2) Letter Grade active tab"/>
          <p:cNvSpPr/>
          <p:nvPr/>
        </p:nvSpPr>
        <p:spPr>
          <a:xfrm>
            <a:off x="731520" y="130759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GradeCalculation (2) Letter Grade tab top"/>
          <p:cNvSpPr/>
          <p:nvPr/>
        </p:nvSpPr>
        <p:spPr>
          <a:xfrm>
            <a:off x="731520" y="130759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GradeCalculation (2) Letter Grade file name"/>
          <p:cNvSpPr txBox="1"/>
          <p:nvPr/>
        </p:nvSpPr>
        <p:spPr>
          <a:xfrm>
            <a:off x="868680" y="13441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Code: GradeCalculation (2) Letter Grade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400" dirty="0"/>
          </a:p>
        </p:txBody>
      </p:sp>
      <p:sp>
        <p:nvSpPr>
          <p:cNvPr id="11" name="Code: GradeCalculation (2) Letter Grade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Calculating The Letter Grade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Percentage)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A_Minimum)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(Percentage &gt;= B_Minimum 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(Percentage &gt;= C_Minimum 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(Percentage &gt;= PassingPercentage)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GradeCalculation (3) Pass and Overall Letter Grade</a:t>
            </a:r>
            <a:endParaRPr lang="en-US" sz="3000" dirty="0"/>
          </a:p>
        </p:txBody>
      </p:sp>
      <p:sp>
        <p:nvSpPr>
          <p:cNvPr id="4" name="Code: GradeCalculation (3) Pass and Overall Letter Grade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GradeCalculation (3) Pass and Overall Letter Grade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GradeCalculation (3) Pass and Overall Letter Grade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GradeCalculation (3) Pass and Overall Letter Grade active tab"/>
          <p:cNvSpPr/>
          <p:nvPr/>
        </p:nvSpPr>
        <p:spPr>
          <a:xfrm>
            <a:off x="731520" y="130759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GradeCalculation (3) Pass and Overall Letter Grade tab top"/>
          <p:cNvSpPr/>
          <p:nvPr/>
        </p:nvSpPr>
        <p:spPr>
          <a:xfrm>
            <a:off x="731520" y="130759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GradeCalculation (3) Pass and Overall Letter Grade file name"/>
          <p:cNvSpPr txBox="1"/>
          <p:nvPr/>
        </p:nvSpPr>
        <p:spPr>
          <a:xfrm>
            <a:off x="868680" y="13441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Code: GradeCalculation (3) Pass and Overall Letter Grade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Code: GradeCalculation (3) Pass and Overall Letter Grade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checking if student Passed A Subject or Not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IsPassed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Percentage =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CalculatePercentage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(Percentage ==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Percentage.Value &gt;= PassingPercentage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calculating the overall Letter Grade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CalculateOverallLetterGrade (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&gt;Subjects)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Average =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CalculateOverallAverage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(Average ==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CalculateLetterGrade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(Average.Value);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GradeCalculation (4) Overall Average</a:t>
            </a:r>
            <a:endParaRPr lang="en-US" sz="3000" dirty="0"/>
          </a:p>
        </p:txBody>
      </p:sp>
      <p:sp>
        <p:nvSpPr>
          <p:cNvPr id="4" name="Code: GradeCalculation (4) Overall Average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GradeCalculation (4) Overall Average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GradeCalculation (4) Overall Average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GradeCalculation (4) Overall Average active tab"/>
          <p:cNvSpPr/>
          <p:nvPr/>
        </p:nvSpPr>
        <p:spPr>
          <a:xfrm>
            <a:off x="731520" y="130759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GradeCalculation (4) Overall Average tab top"/>
          <p:cNvSpPr/>
          <p:nvPr/>
        </p:nvSpPr>
        <p:spPr>
          <a:xfrm>
            <a:off x="731520" y="130759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GradeCalculation (4) Overall Average file name"/>
          <p:cNvSpPr txBox="1"/>
          <p:nvPr/>
        </p:nvSpPr>
        <p:spPr>
          <a:xfrm>
            <a:off x="868680" y="13441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Code: GradeCalculation (4) Overall Average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500" dirty="0"/>
          </a:p>
        </p:txBody>
      </p:sp>
      <p:sp>
        <p:nvSpPr>
          <p:cNvPr id="11" name="Code: GradeCalculation (4) Overall Average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Calculating the overall Average Percentage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CalculateOverallAverage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&gt;Subjects)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(Subjects ==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Subjects.Count ==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TotalPercentage =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Percentage = </a:t>
            </a:r>
            <a:pPr indent="0" marL="0"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CalculatePercentage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==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TotalPercentage += Percentage.Value;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TotalPercentage / Subjects.Count;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Pass, Average and Overall Grade</a:t>
            </a:r>
            <a:endParaRPr lang="en-US" sz="3800" dirty="0"/>
          </a:p>
        </p:txBody>
      </p:sp>
      <p:sp>
        <p:nvSpPr>
          <p:cNvPr id="4" name="Pass, Average and Overall Grade code editor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Pass, Average and Overall Grade code tab bar"/>
          <p:cNvSpPr/>
          <p:nvPr/>
        </p:nvSpPr>
        <p:spPr>
          <a:xfrm>
            <a:off x="548640" y="16459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Pass, Average and Overall Grade code tab bar cover"/>
          <p:cNvSpPr/>
          <p:nvPr/>
        </p:nvSpPr>
        <p:spPr>
          <a:xfrm>
            <a:off x="566928" y="2029968"/>
            <a:ext cx="66385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Pass, Average and Overall Grade code active tab"/>
          <p:cNvSpPr/>
          <p:nvPr/>
        </p:nvSpPr>
        <p:spPr>
          <a:xfrm>
            <a:off x="731520" y="1719072"/>
            <a:ext cx="263347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Pass, Average and Overall Grade code tab top"/>
          <p:cNvSpPr/>
          <p:nvPr/>
        </p:nvSpPr>
        <p:spPr>
          <a:xfrm>
            <a:off x="731520" y="1719072"/>
            <a:ext cx="263347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Pass, Average and Overall Grade code file name"/>
          <p:cNvSpPr txBox="1"/>
          <p:nvPr/>
        </p:nvSpPr>
        <p:spPr>
          <a:xfrm>
            <a:off x="868680" y="17556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GradeCalculation.cs</a:t>
            </a:r>
            <a:endParaRPr lang="en-US" sz="1400" dirty="0"/>
          </a:p>
        </p:txBody>
      </p:sp>
      <p:sp>
        <p:nvSpPr>
          <p:cNvPr id="10" name="Pass, Average and Overall Grade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900" dirty="0"/>
          </a:p>
        </p:txBody>
      </p:sp>
      <p:sp>
        <p:nvSpPr>
          <p:cNvPr id="11" name="Pass, Average and Overall Grade code"/>
          <p:cNvSpPr txBox="1"/>
          <p:nvPr/>
        </p:nvSpPr>
        <p:spPr>
          <a:xfrm>
            <a:off x="1280160" y="2121408"/>
            <a:ext cx="576072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IsPassed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CalculateOverallAverage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CalculateOverallLetterGrade</a:t>
            </a:r>
            <a:endParaRPr lang="en-US" sz="1900" dirty="0"/>
          </a:p>
        </p:txBody>
      </p:sp>
      <p:sp>
        <p:nvSpPr>
          <p:cNvPr id="12" name="Pass, Average and Overall Grade card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3273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Pass, Average and Overall Grade heading"/>
          <p:cNvSpPr txBox="1"/>
          <p:nvPr/>
        </p:nvSpPr>
        <p:spPr>
          <a:xfrm>
            <a:off x="7772400" y="192024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Details</a:t>
            </a:r>
            <a:endParaRPr lang="en-US" sz="2600" dirty="0"/>
          </a:p>
        </p:txBody>
      </p:sp>
      <p:sp>
        <p:nvSpPr>
          <p:cNvPr id="14" name="Pass, Average and Overall Grade bullets"/>
          <p:cNvSpPr txBox="1"/>
          <p:nvPr/>
        </p:nvSpPr>
        <p:spPr>
          <a:xfrm>
            <a:off x="7772400" y="2651760"/>
            <a:ext cx="3550615" cy="3291840"/>
          </a:xfrm>
          <a:prstGeom prst="rect">
            <a:avLst/>
          </a:prstGeom>
          <a:noFill/>
          <a:ln/>
        </p:spPr>
        <p:txBody>
          <a:bodyPr wrap="square" lIns="27432" tIns="18288" rIns="73152" bIns="18288" rtlCol="0" anchor="t">
            <a:noAutofit/>
          </a:bodyPr>
          <a:lstStyle/>
          <a:p>
            <a:pPr marL="279400" indent="-279400" algn="l">
              <a:buNone/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SzPct val="100000"/>
              <a:buChar char="•"/>
              <a:defRPr sz="1400">
                <a:solidFill>
                  <a:srgbClr val="EBEBEB"/>
                </a:solidFill>
              </a:defRPr>
              <a:buNone/>
            </a:pPr>
            <a:r>
              <a:rPr sz="1500">
                <a:solidFill>
                  <a:srgbClr val="CDD3DE"/>
                </a:solidFill>
              </a:rPr>
              <a:t>• IsPassed checks whether a valid subject percentage is at least 50%. It returns true or false, or null if the data is invalid.</a:t>
            </a:r>
            <a:endParaRPr lang="en-US" sz="2200" dirty="0"/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>
                <a:solidFill>
                  <a:srgbClr val="CDD3DE"/>
                </a:solidFill>
              </a:rPr>
              <a:t>• CalculateOverallAverage loops through the subjects, adds their percentages, then divides by the number of subjects.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>
                <a:solidFill>
                  <a:srgbClr val="CDD3DE"/>
                </a:solidFill>
              </a:rPr>
              <a:t>• An empty list or any invalid subject returns null, preventing an incorrect result.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>
                <a:solidFill>
                  <a:srgbClr val="CDD3DE"/>
                </a:solidFill>
              </a:rPr>
              <a:t>• CalculateOverallLetterGrade uses the average to find the final letter grade.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StudentDataValidation</a:t>
            </a:r>
            <a:endParaRPr lang="en-US" sz="3000" dirty="0"/>
          </a:p>
        </p:txBody>
      </p:sp>
      <p:sp>
        <p:nvSpPr>
          <p:cNvPr id="4" name="Code: StudentDataValidation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StudentDataValidation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StudentDataValidation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StudentDataValidation active tab"/>
          <p:cNvSpPr/>
          <p:nvPr/>
        </p:nvSpPr>
        <p:spPr>
          <a:xfrm>
            <a:off x="731520" y="1307592"/>
            <a:ext cx="318211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StudentDataValidation tab top"/>
          <p:cNvSpPr/>
          <p:nvPr/>
        </p:nvSpPr>
        <p:spPr>
          <a:xfrm>
            <a:off x="731520" y="1307592"/>
            <a:ext cx="318211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StudentDataValidation file name"/>
          <p:cNvSpPr txBox="1"/>
          <p:nvPr/>
        </p:nvSpPr>
        <p:spPr>
          <a:xfrm>
            <a:off x="868680" y="13441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StudentDataValidation.cs</a:t>
            </a:r>
            <a:endParaRPr lang="en-US" sz="1400" dirty="0"/>
          </a:p>
        </p:txBody>
      </p:sp>
      <p:sp>
        <p:nvSpPr>
          <p:cNvPr id="10" name="Code: StudentDataValidation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400" dirty="0"/>
          </a:p>
        </p:txBody>
      </p:sp>
      <p:sp>
        <p:nvSpPr>
          <p:cNvPr id="11" name="Code: StudentDataValidation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Student 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ValidateStudentId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Student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IsNullOrWhiteSpace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Subject Grade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Subject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ValidateSubjectData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ValidateSubjectName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subjectName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Data Validation</a:t>
            </a:r>
            <a:endParaRPr lang="en-US" sz="3800" dirty="0"/>
          </a:p>
        </p:txBody>
      </p:sp>
      <p:sp>
        <p:nvSpPr>
          <p:cNvPr id="4" name="Data Validation code editor"/>
          <p:cNvSpPr/>
          <p:nvPr/>
        </p:nvSpPr>
        <p:spPr>
          <a:xfrm>
            <a:off x="548640" y="1645920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Data Validation code tab bar"/>
          <p:cNvSpPr/>
          <p:nvPr/>
        </p:nvSpPr>
        <p:spPr>
          <a:xfrm>
            <a:off x="548640" y="1645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Data Validation code tab bar cover"/>
          <p:cNvSpPr/>
          <p:nvPr/>
        </p:nvSpPr>
        <p:spPr>
          <a:xfrm>
            <a:off x="566928" y="2029968"/>
            <a:ext cx="61813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Data Validation code active tab"/>
          <p:cNvSpPr/>
          <p:nvPr/>
        </p:nvSpPr>
        <p:spPr>
          <a:xfrm>
            <a:off x="731520" y="1719072"/>
            <a:ext cx="3182112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Data Validation code tab top"/>
          <p:cNvSpPr/>
          <p:nvPr/>
        </p:nvSpPr>
        <p:spPr>
          <a:xfrm>
            <a:off x="731520" y="1719072"/>
            <a:ext cx="3182112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Data Validation code file name"/>
          <p:cNvSpPr txBox="1"/>
          <p:nvPr/>
        </p:nvSpPr>
        <p:spPr>
          <a:xfrm>
            <a:off x="868680" y="17556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StudentDataValidation.cs</a:t>
            </a:r>
            <a:endParaRPr lang="en-US" sz="1400" dirty="0"/>
          </a:p>
        </p:txBody>
      </p:sp>
      <p:sp>
        <p:nvSpPr>
          <p:cNvPr id="10" name="Data Validation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900" dirty="0"/>
          </a:p>
        </p:txBody>
      </p:sp>
      <p:sp>
        <p:nvSpPr>
          <p:cNvPr id="11" name="Data Validation code"/>
          <p:cNvSpPr txBox="1"/>
          <p:nvPr/>
        </p:nvSpPr>
        <p:spPr>
          <a:xfrm>
            <a:off x="1280160" y="2121408"/>
            <a:ext cx="530352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ValidateStudentId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ValidateStudentName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</a:t>
            </a:r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IsNullOrWhiteSpace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indent="0" marL="0">
              <a:buNone/>
            </a:pPr>
            <a:r>
              <a:rPr lang="en-US" sz="1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ValidateStudentData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ValidateSubjectData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</p:txBody>
      </p:sp>
      <p:sp>
        <p:nvSpPr>
          <p:cNvPr id="12" name="Data Validation card"/>
          <p:cNvSpPr/>
          <p:nvPr/>
        </p:nvSpPr>
        <p:spPr>
          <a:xfrm>
            <a:off x="6995160" y="1645920"/>
            <a:ext cx="464789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Data Validation heading"/>
          <p:cNvSpPr txBox="1"/>
          <p:nvPr/>
        </p:nvSpPr>
        <p:spPr>
          <a:xfrm>
            <a:off x="7315200" y="19202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StudentDataValidation</a:t>
            </a:r>
            <a:endParaRPr lang="en-US" sz="2600" dirty="0"/>
          </a:p>
        </p:txBody>
      </p:sp>
      <p:sp>
        <p:nvSpPr>
          <p:cNvPr id="14" name="Data Validation bullets"/>
          <p:cNvSpPr txBox="1"/>
          <p:nvPr/>
        </p:nvSpPr>
        <p:spPr>
          <a:xfrm>
            <a:off x="7315200" y="2651760"/>
            <a:ext cx="4007815" cy="3291840"/>
          </a:xfrm>
          <a:prstGeom prst="rect">
            <a:avLst/>
          </a:prstGeom>
          <a:noFill/>
          <a:ln/>
        </p:spPr>
        <p:txBody>
          <a:bodyPr wrap="square" lIns="127000" tIns="101600" rIns="127000" bIns="76200" rtlCol="0" anchor="t">
            <a:noAutofit/>
          </a:bodyPr>
          <a:lstStyle/>
          <a:p>
            <a:pPr marL="279400" indent="-279400" algn="l">
              <a:buNone/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</a:pPr>
            <a:r>
              <a:rPr sz="1500" b="0">
                <a:solidFill>
                  <a:srgbClr val="EBEBEB"/>
                </a:solidFill>
                <a:latin typeface="Aptos"/>
              </a:rPr>
              <a:t>•  StudentDataValidation keeps input rules in one reusable class.</a:t>
            </a:r>
            <a:endParaRPr lang="en-US" sz="2200" dirty="0"/>
          </a:p>
          <a:p>
            <a:pPr>
              <a:buNone/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defRPr sz="1500">
                <a:solidFill>
                  <a:srgbClr val="EBEBEB"/>
                </a:solidFill>
              </a:defRPr>
            </a:pPr>
            <a:r>
              <a:rPr sz="1500" b="0">
                <a:solidFill>
                  <a:srgbClr val="EBEBEB"/>
                </a:solidFill>
                <a:latin typeface="Aptos"/>
              </a:rPr>
              <a:t>•  ValidateStudentId accepts only IDs greater than zero. ValidateStudentName rejects empty names or names containing only spaces.</a:t>
            </a:r>
          </a:p>
          <a:p>
            <a:pPr>
              <a:buNone/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defRPr sz="1500">
                <a:solidFill>
                  <a:srgbClr val="EBEBEB"/>
                </a:solidFill>
              </a:defRPr>
            </a:pPr>
            <a:r>
              <a:rPr sz="1500" b="0">
                <a:solidFill>
                  <a:srgbClr val="EBEBEB"/>
                </a:solidFill>
                <a:latin typeface="Aptos"/>
              </a:rPr>
              <a:t>•  ValidateGrade checks that a grade is between 0 and 100.</a:t>
            </a:r>
          </a:p>
          <a:p>
            <a:pPr>
              <a:buNone/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defRPr sz="1500">
                <a:solidFill>
                  <a:srgbClr val="EBEBEB"/>
                </a:solidFill>
              </a:defRPr>
            </a:pPr>
            <a:r>
              <a:rPr sz="1500" b="0">
                <a:solidFill>
                  <a:srgbClr val="EBEBEB"/>
                </a:solidFill>
                <a:latin typeface="Aptos"/>
              </a:rPr>
              <a:t>•  ValidateSubjectData combines checks with &amp;&amp;, so both the subject name and grade must be valid. AddSubject also checks the grade against MaxGrade.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StudentManagement (1) AddStudent and FindStudent</a:t>
            </a:r>
            <a:endParaRPr lang="en-US" sz="3000" dirty="0"/>
          </a:p>
        </p:txBody>
      </p:sp>
      <p:sp>
        <p:nvSpPr>
          <p:cNvPr id="4" name="Code: StudentManagement (1) AddStudent and FindStudent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StudentManagement (1) AddStudent and FindStudent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StudentManagement (1) AddStudent and FindStudent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StudentManagement (1) AddStudent and FindStudent active tab"/>
          <p:cNvSpPr/>
          <p:nvPr/>
        </p:nvSpPr>
        <p:spPr>
          <a:xfrm>
            <a:off x="731520" y="1307592"/>
            <a:ext cx="274320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StudentManagement (1) AddStudent and FindStudent tab top"/>
          <p:cNvSpPr/>
          <p:nvPr/>
        </p:nvSpPr>
        <p:spPr>
          <a:xfrm>
            <a:off x="731520" y="1307592"/>
            <a:ext cx="274320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StudentManagement (1) AddStudent and FindStudent file name"/>
          <p:cNvSpPr txBox="1"/>
          <p:nvPr/>
        </p:nvSpPr>
        <p:spPr>
          <a:xfrm>
            <a:off x="868680" y="1344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StudentManagement.cs</a:t>
            </a:r>
            <a:endParaRPr lang="en-US" sz="1400" dirty="0"/>
          </a:p>
        </p:txBody>
      </p:sp>
      <p:sp>
        <p:nvSpPr>
          <p:cNvPr id="10" name="Code: StudentManagement (1) AddStudent and FindStudent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</p:txBody>
      </p:sp>
      <p:sp>
        <p:nvSpPr>
          <p:cNvPr id="11" name="Code: StudentManagement (1) AddStudent and FindStudent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ValidateStudentData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.StudentID,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.StudentName))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.StudentID) !=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.Student.StudentID ==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?.Student;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Student Management</a:t>
            </a:r>
            <a:endParaRPr lang="en-US" sz="3800" dirty="0"/>
          </a:p>
        </p:txBody>
      </p:sp>
      <p:sp>
        <p:nvSpPr>
          <p:cNvPr id="4" name="Student Management code editor"/>
          <p:cNvSpPr/>
          <p:nvPr/>
        </p:nvSpPr>
        <p:spPr>
          <a:xfrm>
            <a:off x="548640" y="1645920"/>
            <a:ext cx="603504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Student Management code tab bar"/>
          <p:cNvSpPr/>
          <p:nvPr/>
        </p:nvSpPr>
        <p:spPr>
          <a:xfrm>
            <a:off x="548640" y="164592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tudent Management code tab bar cover"/>
          <p:cNvSpPr/>
          <p:nvPr/>
        </p:nvSpPr>
        <p:spPr>
          <a:xfrm>
            <a:off x="566928" y="2029968"/>
            <a:ext cx="599846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Student Management code active tab"/>
          <p:cNvSpPr/>
          <p:nvPr/>
        </p:nvSpPr>
        <p:spPr>
          <a:xfrm>
            <a:off x="731520" y="1719072"/>
            <a:ext cx="274320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Student Management code tab top"/>
          <p:cNvSpPr/>
          <p:nvPr/>
        </p:nvSpPr>
        <p:spPr>
          <a:xfrm>
            <a:off x="731520" y="1719072"/>
            <a:ext cx="274320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Student Management code file name"/>
          <p:cNvSpPr txBox="1"/>
          <p:nvPr/>
        </p:nvSpPr>
        <p:spPr>
          <a:xfrm>
            <a:off x="868680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StudentManagement.cs</a:t>
            </a:r>
            <a:endParaRPr lang="en-US" sz="1400" dirty="0"/>
          </a:p>
        </p:txBody>
      </p:sp>
      <p:sp>
        <p:nvSpPr>
          <p:cNvPr id="10" name="Student Management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900" dirty="0"/>
          </a:p>
        </p:txBody>
      </p:sp>
      <p:sp>
        <p:nvSpPr>
          <p:cNvPr id="11" name="Student Management code"/>
          <p:cNvSpPr txBox="1"/>
          <p:nvPr/>
        </p:nvSpPr>
        <p:spPr>
          <a:xfrm>
            <a:off x="1280160" y="2121408"/>
            <a:ext cx="512064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StudentRecord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StudentInformation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Student;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6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Subjects;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endParaRPr lang="en-US" sz="1900" dirty="0"/>
          </a:p>
          <a:p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indent="0" marL="0">
              <a:buNone/>
            </a:pPr>
            <a:r>
              <a:rPr lang="en-US" sz="16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StudentRecord</a:t>
            </a:r>
            <a:pPr indent="0" marL="0">
              <a:buNone/>
            </a:pPr>
            <a:r>
              <a:rPr lang="en-US" sz="16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900" dirty="0"/>
          </a:p>
        </p:txBody>
      </p:sp>
      <p:sp>
        <p:nvSpPr>
          <p:cNvPr id="12" name="Student Management card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Student Management heading"/>
          <p:cNvSpPr txBox="1"/>
          <p:nvPr/>
        </p:nvSpPr>
        <p:spPr>
          <a:xfrm>
            <a:off x="7132320" y="1920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Key ideas</a:t>
            </a:r>
            <a:endParaRPr lang="en-US" sz="2600" dirty="0"/>
          </a:p>
        </p:txBody>
      </p:sp>
      <p:sp>
        <p:nvSpPr>
          <p:cNvPr id="14" name="Student Management bullets"/>
          <p:cNvSpPr txBox="1"/>
          <p:nvPr/>
        </p:nvSpPr>
        <p:spPr>
          <a:xfrm>
            <a:off x="7132320" y="2651760"/>
            <a:ext cx="4190695" cy="3291840"/>
          </a:xfrm>
          <a:prstGeom prst="rect">
            <a:avLst/>
          </a:prstGeom>
          <a:noFill/>
          <a:ln/>
        </p:spPr>
        <p:txBody>
          <a:bodyPr wrap="square" lIns="18288" tIns="36576" rIns="18288" bIns="18288" rtlCol="0" anchor="t"/>
          <a:lstStyle/>
          <a:p>
            <a:pPr marL="279400" indent="-279400" algn="l">
              <a:buNone/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  <a:buNone/>
            </a:pPr>
            <a:r>
              <a:rPr sz="1600">
                <a:solidFill>
                  <a:srgbClr val="D9E0EA"/>
                </a:solidFill>
              </a:rPr>
              <a:t>• StudentRecord connects one StudentInformation object with a List&lt;SubjectGrade&gt;, keeping each student’s subjects together.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D9E0EA"/>
                </a:solidFill>
              </a:rPr>
              <a:t>• AddStudent validates the ID and name, rejects null input, and prevents duplicate IDs before saving.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D9E0EA"/>
                </a:solidFill>
              </a:rPr>
              <a:t>• FindStudent uses LINQ FirstOrDefault to find the first matching ID. If none is found, it returns null.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D9E0EA"/>
                </a:solidFill>
              </a:rPr>
              <a:t>• Returning true or false tells the calling code whether adding the student succeeded.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StudentManagement (2) AddSubject</a:t>
            </a:r>
            <a:endParaRPr lang="en-US" sz="3000" dirty="0"/>
          </a:p>
        </p:txBody>
      </p:sp>
      <p:sp>
        <p:nvSpPr>
          <p:cNvPr id="4" name="Code: StudentManagement (2) AddSubject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Code: StudentManagement (2) AddSubject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Code: StudentManagement (2) AddSubject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Code: StudentManagement (2) AddSubject active tab"/>
          <p:cNvSpPr/>
          <p:nvPr/>
        </p:nvSpPr>
        <p:spPr>
          <a:xfrm>
            <a:off x="731520" y="1307592"/>
            <a:ext cx="274320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Code: StudentManagement (2) AddSubject tab top"/>
          <p:cNvSpPr/>
          <p:nvPr/>
        </p:nvSpPr>
        <p:spPr>
          <a:xfrm>
            <a:off x="731520" y="1307592"/>
            <a:ext cx="274320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Code: StudentManagement (2) AddSubject file name"/>
          <p:cNvSpPr txBox="1"/>
          <p:nvPr/>
        </p:nvSpPr>
        <p:spPr>
          <a:xfrm>
            <a:off x="868680" y="1344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StudentManagement.cs</a:t>
            </a:r>
            <a:endParaRPr lang="en-US" sz="1400" dirty="0"/>
          </a:p>
        </p:txBody>
      </p:sp>
      <p:sp>
        <p:nvSpPr>
          <p:cNvPr id="10" name="Code: StudentManagement (2) AddSubject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</p:txBody>
      </p:sp>
      <p:sp>
        <p:nvSpPr>
          <p:cNvPr id="11" name="Code: StudentManagement (2) AddSubject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SubjectGrade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.Student.StudentID ==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ValidateSubjectName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.SubjectName))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.SubjectID &lt;=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.MaxGrade &lt;=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.Grade &lt;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.Grade &gt;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.MaxGrade)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.Subjects.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.SubjectID ==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.SubjectID))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.Subjects.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03 · LOGIC AND CODE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Subjects, Removal and Display</a:t>
            </a:r>
            <a:endParaRPr lang="en-US" sz="3800" dirty="0"/>
          </a:p>
        </p:txBody>
      </p:sp>
      <p:sp>
        <p:nvSpPr>
          <p:cNvPr id="4" name="Subjects, Removal and Display code editor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Subjects, Removal and Display code tab bar"/>
          <p:cNvSpPr/>
          <p:nvPr/>
        </p:nvSpPr>
        <p:spPr>
          <a:xfrm>
            <a:off x="54864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Subjects, Removal and Display code tab bar cover"/>
          <p:cNvSpPr/>
          <p:nvPr/>
        </p:nvSpPr>
        <p:spPr>
          <a:xfrm>
            <a:off x="566928" y="2029968"/>
            <a:ext cx="544982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Subjects, Removal and Display code active tab"/>
          <p:cNvSpPr/>
          <p:nvPr/>
        </p:nvSpPr>
        <p:spPr>
          <a:xfrm>
            <a:off x="731520" y="1719072"/>
            <a:ext cx="274320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Subjects, Removal and Display code tab top"/>
          <p:cNvSpPr/>
          <p:nvPr/>
        </p:nvSpPr>
        <p:spPr>
          <a:xfrm>
            <a:off x="731520" y="1719072"/>
            <a:ext cx="274320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Subjects, Removal and Display code file name"/>
          <p:cNvSpPr txBox="1"/>
          <p:nvPr/>
        </p:nvSpPr>
        <p:spPr>
          <a:xfrm>
            <a:off x="868680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StudentManagement.cs</a:t>
            </a:r>
            <a:endParaRPr lang="en-US" sz="1400" dirty="0"/>
          </a:p>
        </p:txBody>
      </p:sp>
      <p:sp>
        <p:nvSpPr>
          <p:cNvPr id="10" name="Subjects, Removal and Display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Subjects, Removal and Display code"/>
          <p:cNvSpPr txBox="1"/>
          <p:nvPr/>
        </p:nvSpPr>
        <p:spPr>
          <a:xfrm>
            <a:off x="1280160" y="2121408"/>
            <a:ext cx="457200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MaxGrade &lt;= </a:t>
            </a:r>
            <a:pPr indent="0" marL="0">
              <a:buNone/>
            </a:pPr>
            <a:r>
              <a:rPr lang="en-US" sz="16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&gt; Max?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SubjectID?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.Subjects.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RemoveStudent: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Subjects, Removal and Display card"/>
          <p:cNvSpPr/>
          <p:nvPr/>
        </p:nvSpPr>
        <p:spPr>
          <a:xfrm>
            <a:off x="6263640" y="1645920"/>
            <a:ext cx="537941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Subjects, Removal and Display heading"/>
          <p:cNvSpPr txBox="1"/>
          <p:nvPr/>
        </p:nvSpPr>
        <p:spPr>
          <a:xfrm>
            <a:off x="6583680" y="1920240"/>
            <a:ext cx="4739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Rest of the class</a:t>
            </a:r>
            <a:endParaRPr lang="en-US" sz="2600" dirty="0"/>
          </a:p>
        </p:txBody>
      </p:sp>
      <p:sp>
        <p:nvSpPr>
          <p:cNvPr id="14" name="Subjects, Removal and Display bullets"/>
          <p:cNvSpPr txBox="1"/>
          <p:nvPr/>
        </p:nvSpPr>
        <p:spPr>
          <a:xfrm>
            <a:off x="6583680" y="2651760"/>
            <a:ext cx="4739335" cy="3291840"/>
          </a:xfrm>
          <a:prstGeom prst="rect">
            <a:avLst/>
          </a:prstGeom>
          <a:noFill/>
          <a:ln/>
        </p:spPr>
        <p:txBody>
          <a:bodyPr wrap="square" lIns="128016" tIns="118872" rIns="128016" bIns="91440" rtlCol="0" anchor="t">
            <a:noAutofit/>
          </a:bodyPr>
          <a:lstStyle/>
          <a:p>
            <a:pPr marL="279400" indent="-279400" algn="l">
              <a:buNone/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  <a:buNone/>
            </a:pPr>
            <a:r>
              <a:rPr sz="1500">
                <a:solidFill>
                  <a:srgbClr val="D9E0EA"/>
                </a:solidFill>
              </a:rPr>
              <a:t>• AddSubject first finds the student and rejects a missing student or subject.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D9E0EA"/>
                </a:solidFill>
              </a:rPr>
              <a:t>• It checks the subject name, positive ID, and maximum grade, and ensures the grade is between zero and the maximum.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D9E0EA"/>
                </a:solidFill>
              </a:rPr>
              <a:t>• Any checks whether that subject ID already exists. The subject is added only when all checks pass.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D9E0EA"/>
                </a:solidFill>
              </a:rPr>
              <a:t>• RemoveStudent deletes a record. Display methods show student summaries and reports.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194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04 · INTERFACE AND SUMMARY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Code: Program.cs Menu Loop</a:t>
            </a:r>
            <a:endParaRPr lang="en-US" sz="3000" dirty="0"/>
          </a:p>
        </p:txBody>
      </p:sp>
      <p:sp>
        <p:nvSpPr>
          <p:cNvPr id="4" name="Menu loop code editor"/>
          <p:cNvSpPr/>
          <p:nvPr/>
        </p:nvSpPr>
        <p:spPr>
          <a:xfrm>
            <a:off x="548640" y="1234440"/>
            <a:ext cx="11094415" cy="512064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5" name="Menu loop code tab bar"/>
          <p:cNvSpPr/>
          <p:nvPr/>
        </p:nvSpPr>
        <p:spPr>
          <a:xfrm>
            <a:off x="548640" y="1234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</p:sp>
      <p:sp>
        <p:nvSpPr>
          <p:cNvPr id="6" name="Menu loop code tab bar cover"/>
          <p:cNvSpPr/>
          <p:nvPr/>
        </p:nvSpPr>
        <p:spPr>
          <a:xfrm>
            <a:off x="566928" y="1618488"/>
            <a:ext cx="11057839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Menu loop code active tab"/>
          <p:cNvSpPr/>
          <p:nvPr/>
        </p:nvSpPr>
        <p:spPr>
          <a:xfrm>
            <a:off x="731520" y="1307592"/>
            <a:ext cx="164592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Menu loop code tab top"/>
          <p:cNvSpPr/>
          <p:nvPr/>
        </p:nvSpPr>
        <p:spPr>
          <a:xfrm>
            <a:off x="731520" y="1307592"/>
            <a:ext cx="164592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9" name="Menu loop code file name"/>
          <p:cNvSpPr txBox="1"/>
          <p:nvPr/>
        </p:nvSpPr>
        <p:spPr>
          <a:xfrm>
            <a:off x="86868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400" dirty="0"/>
          </a:p>
        </p:txBody>
      </p:sp>
      <p:sp>
        <p:nvSpPr>
          <p:cNvPr id="10" name="Menu loop code line numbers"/>
          <p:cNvSpPr txBox="1"/>
          <p:nvPr/>
        </p:nvSpPr>
        <p:spPr>
          <a:xfrm>
            <a:off x="685800" y="1709928"/>
            <a:ext cx="411480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</p:txBody>
      </p:sp>
      <p:sp>
        <p:nvSpPr>
          <p:cNvPr id="11" name="Menu loop code"/>
          <p:cNvSpPr txBox="1"/>
          <p:nvPr/>
        </p:nvSpPr>
        <p:spPr>
          <a:xfrm>
            <a:off x="1280160" y="1709928"/>
            <a:ext cx="10180015" cy="4553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"Choose an option: 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any key to back to Main Menue ! 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ReadKey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cases 2 to 6 follow the same pattern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"Goodbye!"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choice. Try again."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6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04 · INTERFACE AND SUMMARY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User Interface Flow</a:t>
            </a:r>
            <a:endParaRPr lang="en-US" sz="3800" dirty="0"/>
          </a:p>
        </p:txBody>
      </p:sp>
      <p:sp>
        <p:nvSpPr>
          <p:cNvPr id="4" name="User Interface Flow code editor"/>
          <p:cNvSpPr/>
          <p:nvPr/>
        </p:nvSpPr>
        <p:spPr>
          <a:xfrm>
            <a:off x="548640" y="1645920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User Interface Flow code tab bar"/>
          <p:cNvSpPr/>
          <p:nvPr/>
        </p:nvSpPr>
        <p:spPr>
          <a:xfrm>
            <a:off x="548640" y="1645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User Interface Flow code tab bar cover"/>
          <p:cNvSpPr/>
          <p:nvPr/>
        </p:nvSpPr>
        <p:spPr>
          <a:xfrm>
            <a:off x="566928" y="2029968"/>
            <a:ext cx="61813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User Interface Flow code active tab"/>
          <p:cNvSpPr/>
          <p:nvPr/>
        </p:nvSpPr>
        <p:spPr>
          <a:xfrm>
            <a:off x="731520" y="1719072"/>
            <a:ext cx="164592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User Interface Flow code tab top"/>
          <p:cNvSpPr/>
          <p:nvPr/>
        </p:nvSpPr>
        <p:spPr>
          <a:xfrm>
            <a:off x="731520" y="1719072"/>
            <a:ext cx="164592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User Interface Flow code file name"/>
          <p:cNvSpPr txBox="1"/>
          <p:nvPr/>
        </p:nvSpPr>
        <p:spPr>
          <a:xfrm>
            <a:off x="86868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400" dirty="0"/>
          </a:p>
        </p:txBody>
      </p:sp>
      <p:sp>
        <p:nvSpPr>
          <p:cNvPr id="10" name="User Interface Flow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900" dirty="0"/>
          </a:p>
          <a:p>
            <a:pPr algn="r" indent="0" marL="0">
              <a:buNone/>
            </a:pPr>
            <a:r>
              <a:rPr lang="en-US" sz="19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900" dirty="0"/>
          </a:p>
        </p:txBody>
      </p:sp>
      <p:sp>
        <p:nvSpPr>
          <p:cNvPr id="11" name="User Interface Flow code"/>
          <p:cNvSpPr txBox="1"/>
          <p:nvPr/>
        </p:nvSpPr>
        <p:spPr>
          <a:xfrm>
            <a:off x="1280160" y="2121408"/>
            <a:ext cx="530352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the menu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12" name="User Interface Flow card"/>
          <p:cNvSpPr/>
          <p:nvPr/>
        </p:nvSpPr>
        <p:spPr>
          <a:xfrm>
            <a:off x="6995160" y="1645920"/>
            <a:ext cx="464789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User Interface Flow heading"/>
          <p:cNvSpPr txBox="1"/>
          <p:nvPr/>
        </p:nvSpPr>
        <p:spPr>
          <a:xfrm>
            <a:off x="7315200" y="19202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Program.cs</a:t>
            </a:r>
            <a:endParaRPr lang="en-US" sz="2600" dirty="0"/>
          </a:p>
        </p:txBody>
      </p:sp>
      <p:sp>
        <p:nvSpPr>
          <p:cNvPr id="14" name="User Interface Flow bullets"/>
          <p:cNvSpPr txBox="1"/>
          <p:nvPr/>
        </p:nvSpPr>
        <p:spPr>
          <a:xfrm>
            <a:off x="7315200" y="2651760"/>
            <a:ext cx="4007815" cy="3291840"/>
          </a:xfrm>
          <a:prstGeom prst="rect">
            <a:avLst/>
          </a:prstGeom>
          <a:noFill/>
          <a:ln/>
        </p:spPr>
        <p:txBody>
          <a:bodyPr wrap="square" lIns="27432" tIns="18288" rIns="73152" bIns="18288" rtlCol="0" anchor="t">
            <a:noAutofit/>
          </a:bodyPr>
          <a:lstStyle/>
          <a:p>
            <a:pPr marL="279400" indent="-279400" algn="l">
              <a:buNone/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SzPct val="100000"/>
              <a:buChar char="•"/>
              <a:defRPr sz="1500">
                <a:solidFill>
                  <a:srgbClr val="EBEBEB"/>
                </a:solidFill>
              </a:defRPr>
              <a:buNone/>
            </a:pPr>
            <a:r>
              <a:rPr sz="1600">
                <a:solidFill>
                  <a:srgbClr val="CDD3DE"/>
                </a:solidFill>
              </a:rPr>
              <a:t>• The while (true) loop keeps the main menu running until the user chooses Exit.</a:t>
            </a:r>
            <a:endParaRPr lang="en-US" sz="2200" dirty="0"/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switch sends each menu choice to the correct operation. return exits the program, while default handles an invalid choice.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Console.Clear keeps the screen tidy, and Console.ReadKey can pause so the user can read a message.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solidFill>
                  <a:srgbClr val="CDD3DE"/>
                </a:solidFill>
              </a:rPr>
              <a:t>• The main program delegates the actual work to service classes, keeping the interface organized.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73152" rIns="73152" tIns="73152" bIns="73152">
            <a:normAutofit/>
          </a:bodyPr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04 · INTERFACE AND SUMMARY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Reading User Input</a:t>
            </a:r>
            <a:endParaRPr lang="en-US" sz="3800" dirty="0"/>
          </a:p>
        </p:txBody>
      </p:sp>
      <p:sp>
        <p:nvSpPr>
          <p:cNvPr id="4" name="Reading User Input code editor"/>
          <p:cNvSpPr/>
          <p:nvPr/>
        </p:nvSpPr>
        <p:spPr>
          <a:xfrm>
            <a:off x="548640" y="1645920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5" name="Reading User Input code tab bar"/>
          <p:cNvSpPr/>
          <p:nvPr/>
        </p:nvSpPr>
        <p:spPr>
          <a:xfrm>
            <a:off x="548640" y="1645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2D2D30"/>
          </a:solidFill>
          <a:ln w="15875">
            <a:solidFill>
              <a:srgbClr val="3F3F46"/>
            </a:solidFill>
            <a:prstDash val="solid"/>
          </a:ln>
        </p:spPr>
        <p:txBody>
          <a:bodyPr/>
          <a:p/>
        </p:txBody>
      </p:sp>
      <p:sp>
        <p:nvSpPr>
          <p:cNvPr id="6" name="Reading User Input code tab bar cover"/>
          <p:cNvSpPr/>
          <p:nvPr/>
        </p:nvSpPr>
        <p:spPr>
          <a:xfrm>
            <a:off x="566928" y="2029968"/>
            <a:ext cx="6181344" cy="20116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7" name="Reading User Input code active tab"/>
          <p:cNvSpPr/>
          <p:nvPr/>
        </p:nvSpPr>
        <p:spPr>
          <a:xfrm>
            <a:off x="731520" y="1719072"/>
            <a:ext cx="1645920" cy="31089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p/>
        </p:txBody>
      </p:sp>
      <p:sp>
        <p:nvSpPr>
          <p:cNvPr id="8" name="Reading User Input code tab top"/>
          <p:cNvSpPr/>
          <p:nvPr/>
        </p:nvSpPr>
        <p:spPr>
          <a:xfrm>
            <a:off x="731520" y="1719072"/>
            <a:ext cx="1645920" cy="36576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p/>
        </p:txBody>
      </p:sp>
      <p:sp>
        <p:nvSpPr>
          <p:cNvPr id="9" name="Reading User Input code file name"/>
          <p:cNvSpPr txBox="1"/>
          <p:nvPr/>
        </p:nvSpPr>
        <p:spPr>
          <a:xfrm>
            <a:off x="86868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400" dirty="0"/>
          </a:p>
        </p:txBody>
      </p:sp>
      <p:sp>
        <p:nvSpPr>
          <p:cNvPr id="10" name="Reading User Input code line numbers"/>
          <p:cNvSpPr txBox="1"/>
          <p:nvPr/>
        </p:nvSpPr>
        <p:spPr>
          <a:xfrm>
            <a:off x="685800" y="2121408"/>
            <a:ext cx="411480" cy="3959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11" name="Reading User Input code"/>
          <p:cNvSpPr txBox="1"/>
          <p:nvPr/>
        </p:nvSpPr>
        <p:spPr>
          <a:xfrm>
            <a:off x="1280160" y="2121408"/>
            <a:ext cx="5303520" cy="3959352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AddSubject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Student ID,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Subject ID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Maximum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Grade,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AddSubject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AddStudent: ID,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2" name="Reading User Input card"/>
          <p:cNvSpPr/>
          <p:nvPr/>
        </p:nvSpPr>
        <p:spPr>
          <a:xfrm>
            <a:off x="6995160" y="1645920"/>
            <a:ext cx="4647895" cy="452628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3" name="Reading User Input heading"/>
          <p:cNvSpPr txBox="1"/>
          <p:nvPr/>
        </p:nvSpPr>
        <p:spPr>
          <a:xfrm>
            <a:off x="7315200" y="1920240"/>
            <a:ext cx="4007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Safe input</a:t>
            </a:r>
            <a:endParaRPr lang="en-US" sz="2600" dirty="0"/>
          </a:p>
        </p:txBody>
      </p:sp>
      <p:sp>
        <p:nvSpPr>
          <p:cNvPr id="14" name="Reading User Input bullets"/>
          <p:cNvSpPr txBox="1"/>
          <p:nvPr/>
        </p:nvSpPr>
        <p:spPr>
          <a:xfrm>
            <a:off x="7315200" y="2651760"/>
            <a:ext cx="4007815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>
            <a:normAutofit/>
          </a:bodyPr>
          <a:lstStyle/>
          <a:p>
            <a:pPr marL="279400" indent="-2794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sz="1600">
                <a:solidFill>
                  <a:srgbClr val="F2F2F2"/>
                </a:solidFill>
                <a:latin typeface="Aptos"/>
              </a:rPr>
              <a:t>• The program collects student or subject details and sends them to the relevant service.</a:t>
            </a:r>
            <a:endParaRPr lang="en-US" sz="2200" dirty="0"/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>
                <a:solidFill>
                  <a:srgbClr val="F2F2F2"/>
                </a:solidFill>
                <a:latin typeface="Aptos"/>
              </a:rPr>
              <a:t>• TryParse checks numeric input before the program uses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>
                <a:solidFill>
                  <a:srgbClr val="F2F2F2"/>
                </a:solidFill>
                <a:latin typeface="Aptos"/>
              </a:rPr>
              <a:t>• Before adding a subject, the program checks that the student exists and the maximum grade is above zero.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>
                <a:solidFill>
                  <a:srgbClr val="F2F2F2"/>
                </a:solidFill>
                <a:latin typeface="Aptos"/>
              </a:rPr>
              <a:t>• The obtained grade must be between zero and the maximum grade.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04 · INTERFACE AND SUMMARY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How the Parts Work Together</a:t>
            </a:r>
            <a:endParaRPr lang="en-US" sz="38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45920"/>
            <a:ext cx="5410048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ep circle 1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number 1"/>
          <p:cNvSpPr txBox="1"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Step heading 1"/>
          <p:cNvSpPr txBox="1"/>
          <p:nvPr/>
        </p:nvSpPr>
        <p:spPr>
          <a:xfrm>
            <a:off x="1920240" y="1920240"/>
            <a:ext cx="371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Input</a:t>
            </a:r>
            <a:endParaRPr lang="en-US" sz="3000" dirty="0"/>
          </a:p>
        </p:txBody>
      </p:sp>
      <p:sp>
        <p:nvSpPr>
          <p:cNvPr id="8" name="Step text 1"/>
          <p:cNvSpPr txBox="1"/>
          <p:nvPr/>
        </p:nvSpPr>
        <p:spPr>
          <a:xfrm>
            <a:off x="868680" y="28803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Program.cs reads and checks what the user types.</a:t>
            </a:r>
            <a:endParaRPr lang="en-US" sz="2200" dirty="0"/>
          </a:p>
        </p:txBody>
      </p:sp>
      <p:sp>
        <p:nvSpPr>
          <p:cNvPr id="9" name="Step card 2"/>
          <p:cNvSpPr/>
          <p:nvPr/>
        </p:nvSpPr>
        <p:spPr>
          <a:xfrm>
            <a:off x="6233008" y="1645920"/>
            <a:ext cx="5410048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ep circle 2"/>
          <p:cNvSpPr/>
          <p:nvPr/>
        </p:nvSpPr>
        <p:spPr>
          <a:xfrm>
            <a:off x="6553048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655304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Step heading 2"/>
          <p:cNvSpPr txBox="1"/>
          <p:nvPr/>
        </p:nvSpPr>
        <p:spPr>
          <a:xfrm>
            <a:off x="7604608" y="1920240"/>
            <a:ext cx="371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Validation</a:t>
            </a:r>
            <a:endParaRPr lang="en-US" sz="3000" dirty="0"/>
          </a:p>
        </p:txBody>
      </p:sp>
      <p:sp>
        <p:nvSpPr>
          <p:cNvPr id="13" name="Step text 2"/>
          <p:cNvSpPr txBox="1"/>
          <p:nvPr/>
        </p:nvSpPr>
        <p:spPr>
          <a:xfrm>
            <a:off x="6553048" y="28803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StudentDataValidation applies the rules.</a:t>
            </a:r>
            <a:endParaRPr lang="en-US" sz="2200" dirty="0"/>
          </a:p>
        </p:txBody>
      </p:sp>
      <p:sp>
        <p:nvSpPr>
          <p:cNvPr id="14" name="Step card 3"/>
          <p:cNvSpPr/>
          <p:nvPr/>
        </p:nvSpPr>
        <p:spPr>
          <a:xfrm>
            <a:off x="548640" y="4160520"/>
            <a:ext cx="5410048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tep circle 3"/>
          <p:cNvSpPr/>
          <p:nvPr/>
        </p:nvSpPr>
        <p:spPr>
          <a:xfrm>
            <a:off x="868680" y="4434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ber 3"/>
          <p:cNvSpPr txBox="1"/>
          <p:nvPr/>
        </p:nvSpPr>
        <p:spPr>
          <a:xfrm>
            <a:off x="86868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en-US" sz="3200" dirty="0"/>
          </a:p>
        </p:txBody>
      </p:sp>
      <p:sp>
        <p:nvSpPr>
          <p:cNvPr id="17" name="Step heading 3"/>
          <p:cNvSpPr txBox="1"/>
          <p:nvPr/>
        </p:nvSpPr>
        <p:spPr>
          <a:xfrm>
            <a:off x="1920240" y="4434840"/>
            <a:ext cx="371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Storage</a:t>
            </a:r>
            <a:endParaRPr lang="en-US" sz="3000" dirty="0"/>
          </a:p>
        </p:txBody>
      </p:sp>
      <p:sp>
        <p:nvSpPr>
          <p:cNvPr id="18" name="Step text 3"/>
          <p:cNvSpPr txBox="1"/>
          <p:nvPr/>
        </p:nvSpPr>
        <p:spPr>
          <a:xfrm>
            <a:off x="868680" y="53949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StudentManagement keeps students and subjects.</a:t>
            </a:r>
            <a:endParaRPr lang="en-US" sz="2200" dirty="0"/>
          </a:p>
        </p:txBody>
      </p:sp>
      <p:sp>
        <p:nvSpPr>
          <p:cNvPr id="19" name="Step card 4"/>
          <p:cNvSpPr/>
          <p:nvPr/>
        </p:nvSpPr>
        <p:spPr>
          <a:xfrm>
            <a:off x="6233008" y="4160520"/>
            <a:ext cx="5410048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Step circle 4"/>
          <p:cNvSpPr/>
          <p:nvPr/>
        </p:nvSpPr>
        <p:spPr>
          <a:xfrm>
            <a:off x="6553048" y="4434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number 4"/>
          <p:cNvSpPr txBox="1"/>
          <p:nvPr/>
        </p:nvSpPr>
        <p:spPr>
          <a:xfrm>
            <a:off x="6553048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</a:t>
            </a:r>
            <a:endParaRPr lang="en-US" sz="3200" dirty="0"/>
          </a:p>
        </p:txBody>
      </p:sp>
      <p:sp>
        <p:nvSpPr>
          <p:cNvPr id="22" name="Step heading 4"/>
          <p:cNvSpPr txBox="1"/>
          <p:nvPr/>
        </p:nvSpPr>
        <p:spPr>
          <a:xfrm>
            <a:off x="7604608" y="4434840"/>
            <a:ext cx="371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Output</a:t>
            </a:r>
            <a:endParaRPr lang="en-US" sz="3000" dirty="0"/>
          </a:p>
        </p:txBody>
      </p:sp>
      <p:sp>
        <p:nvSpPr>
          <p:cNvPr id="23" name="Step text 4"/>
          <p:cNvSpPr txBox="1"/>
          <p:nvPr/>
        </p:nvSpPr>
        <p:spPr>
          <a:xfrm>
            <a:off x="6553048" y="53949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GradeCalculation and StudentGradeReport print results.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04 · INTERFACE AND SUMMARY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Concepts Used</a:t>
            </a:r>
            <a:endParaRPr lang="en-US" sz="3800" dirty="0"/>
          </a:p>
        </p:txBody>
      </p:sp>
      <p:sp>
        <p:nvSpPr>
          <p:cNvPr id="4" name="Concept card 1"/>
          <p:cNvSpPr/>
          <p:nvPr/>
        </p:nvSpPr>
        <p:spPr>
          <a:xfrm>
            <a:off x="548640" y="1645920"/>
            <a:ext cx="541004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Encapsulation circle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ncapsulation icon" descr="Encaps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14550"/>
            <a:ext cx="388620" cy="388620"/>
          </a:xfrm>
          <a:prstGeom prst="rect">
            <a:avLst/>
          </a:prstGeom>
        </p:spPr>
      </p:pic>
      <p:sp>
        <p:nvSpPr>
          <p:cNvPr id="7" name="Concept heading 1"/>
          <p:cNvSpPr txBox="1"/>
          <p:nvPr/>
        </p:nvSpPr>
        <p:spPr>
          <a:xfrm>
            <a:off x="1874520" y="1920240"/>
            <a:ext cx="380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Encapsulation</a:t>
            </a:r>
            <a:endParaRPr lang="en-US" sz="2400" dirty="0"/>
          </a:p>
        </p:txBody>
      </p:sp>
      <p:sp>
        <p:nvSpPr>
          <p:cNvPr id="8" name="Concept text 1"/>
          <p:cNvSpPr txBox="1"/>
          <p:nvPr/>
        </p:nvSpPr>
        <p:spPr>
          <a:xfrm>
            <a:off x="868680" y="283464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Private setters protect student and subject data.</a:t>
            </a:r>
            <a:endParaRPr lang="en-US" sz="2000" dirty="0"/>
          </a:p>
        </p:txBody>
      </p:sp>
      <p:sp>
        <p:nvSpPr>
          <p:cNvPr id="9" name="Concept card 2"/>
          <p:cNvSpPr/>
          <p:nvPr/>
        </p:nvSpPr>
        <p:spPr>
          <a:xfrm>
            <a:off x="6233008" y="1645920"/>
            <a:ext cx="541004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eparation of Concerns circle"/>
          <p:cNvSpPr/>
          <p:nvPr/>
        </p:nvSpPr>
        <p:spPr>
          <a:xfrm>
            <a:off x="6553048" y="19202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eparation of Concerns icon" descr="Separation of Concer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58" y="2114550"/>
            <a:ext cx="388620" cy="388620"/>
          </a:xfrm>
          <a:prstGeom prst="rect">
            <a:avLst/>
          </a:prstGeom>
        </p:spPr>
      </p:pic>
      <p:sp>
        <p:nvSpPr>
          <p:cNvPr id="12" name="Concept heading 2"/>
          <p:cNvSpPr txBox="1"/>
          <p:nvPr/>
        </p:nvSpPr>
        <p:spPr>
          <a:xfrm>
            <a:off x="7558888" y="1920240"/>
            <a:ext cx="380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Separation of Concerns</a:t>
            </a:r>
            <a:endParaRPr lang="en-US" sz="2400" dirty="0"/>
          </a:p>
        </p:txBody>
      </p:sp>
      <p:sp>
        <p:nvSpPr>
          <p:cNvPr id="13" name="Concept text 2"/>
          <p:cNvSpPr txBox="1"/>
          <p:nvPr/>
        </p:nvSpPr>
        <p:spPr>
          <a:xfrm>
            <a:off x="6553048" y="283464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Models, services, reports and UI stay separate.</a:t>
            </a:r>
            <a:endParaRPr lang="en-US" sz="2000" dirty="0"/>
          </a:p>
        </p:txBody>
      </p:sp>
      <p:sp>
        <p:nvSpPr>
          <p:cNvPr id="14" name="Concept card 3"/>
          <p:cNvSpPr/>
          <p:nvPr/>
        </p:nvSpPr>
        <p:spPr>
          <a:xfrm>
            <a:off x="548640" y="4114800"/>
            <a:ext cx="541004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Enums and Nullable Types circle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Enums and Nullable Types icon" descr="Enums and Nullable Typ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583430"/>
            <a:ext cx="388620" cy="388620"/>
          </a:xfrm>
          <a:prstGeom prst="rect">
            <a:avLst/>
          </a:prstGeom>
        </p:spPr>
      </p:pic>
      <p:sp>
        <p:nvSpPr>
          <p:cNvPr id="17" name="Concept heading 3"/>
          <p:cNvSpPr txBox="1"/>
          <p:nvPr/>
        </p:nvSpPr>
        <p:spPr>
          <a:xfrm>
            <a:off x="1874520" y="4389120"/>
            <a:ext cx="380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Enums and Nullable Types</a:t>
            </a:r>
            <a:endParaRPr lang="en-US" sz="2400" dirty="0"/>
          </a:p>
        </p:txBody>
      </p:sp>
      <p:sp>
        <p:nvSpPr>
          <p:cNvPr id="18" name="Concept text 3"/>
          <p:cNvSpPr txBox="1"/>
          <p:nvPr/>
        </p:nvSpPr>
        <p:spPr>
          <a:xfrm>
            <a:off x="868680" y="53035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Safe choices, and null for invalid calculations.</a:t>
            </a:r>
            <a:endParaRPr lang="en-US" sz="2000" dirty="0"/>
          </a:p>
        </p:txBody>
      </p:sp>
      <p:sp>
        <p:nvSpPr>
          <p:cNvPr id="19" name="Concept card 4"/>
          <p:cNvSpPr/>
          <p:nvPr/>
        </p:nvSpPr>
        <p:spPr>
          <a:xfrm>
            <a:off x="6233008" y="4114800"/>
            <a:ext cx="5410048" cy="2240280"/>
          </a:xfrm>
          <a:prstGeom prst="roundRect">
            <a:avLst>
              <a:gd name="adj" fmla="val 612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ollections and LINQ circle"/>
          <p:cNvSpPr/>
          <p:nvPr/>
        </p:nvSpPr>
        <p:spPr>
          <a:xfrm>
            <a:off x="6553048" y="4389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Collections and LINQ icon" descr="Collections and LINQ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58" y="4583430"/>
            <a:ext cx="388620" cy="388620"/>
          </a:xfrm>
          <a:prstGeom prst="rect">
            <a:avLst/>
          </a:prstGeom>
        </p:spPr>
      </p:pic>
      <p:sp>
        <p:nvSpPr>
          <p:cNvPr id="22" name="Concept heading 4"/>
          <p:cNvSpPr txBox="1"/>
          <p:nvPr/>
        </p:nvSpPr>
        <p:spPr>
          <a:xfrm>
            <a:off x="7558888" y="4389120"/>
            <a:ext cx="3809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Collections and LINQ</a:t>
            </a:r>
            <a:endParaRPr lang="en-US" sz="2400" dirty="0"/>
          </a:p>
        </p:txBody>
      </p:sp>
      <p:sp>
        <p:nvSpPr>
          <p:cNvPr id="23" name="Concept text 4"/>
          <p:cNvSpPr txBox="1"/>
          <p:nvPr/>
        </p:nvSpPr>
        <p:spPr>
          <a:xfrm>
            <a:off x="6553048" y="53035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List of T with FirstOrDefault, Select and Any.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3B3B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sing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solidFill>
                  <a:srgbClr val="FFBE00"/>
                </a:solidFill>
              </a:rPr>
              <a:t>Thank you.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Gold">
  <a:themeElements>
    <a:clrScheme name="Navy Gold">
      <a:dk1>
        <a:srgbClr val="000000"/>
      </a:dk1>
      <a:lt1>
        <a:srgbClr val="FFFFFF"/>
      </a:lt1>
      <a:dk2>
        <a:srgbClr val="131313"/>
      </a:dk2>
      <a:lt2>
        <a:srgbClr val="F2F2F2"/>
      </a:lt2>
      <a:accent1>
        <a:srgbClr val="FFC629"/>
      </a:accent1>
      <a:accent2>
        <a:srgbClr val="8EC5FF"/>
      </a:accent2>
      <a:accent3>
        <a:srgbClr val="050505"/>
      </a:accent3>
      <a:accent4>
        <a:srgbClr val="B3B3B3"/>
      </a:accent4>
      <a:accent5>
        <a:srgbClr val="FFD966"/>
      </a:accent5>
      <a:accent6>
        <a:srgbClr val="444444"/>
      </a:accent6>
      <a:hlink>
        <a:srgbClr val="FFC629"/>
      </a:hlink>
      <a:folHlink>
        <a:srgbClr val="B3B3B3"/>
      </a:folHlink>
    </a:clrScheme>
    <a:fontScheme name="Navy Gol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Grades System</dc:title>
  <dc:subject>PptxGenJS Presentation</dc:subject>
  <dc:creator>PptxGenJS</dc:creator>
  <cp:lastModifiedBy>PptxGenJS</cp:lastModifiedBy>
  <cp:revision>1</cp:revision>
  <dcterms:created xsi:type="dcterms:W3CDTF">2026-10-21T22:47:53Z</dcterms:created>
  <dcterms:modified xsi:type="dcterms:W3CDTF">2026-10-21T22:47:53Z</dcterms:modified>
</cp:coreProperties>
</file>